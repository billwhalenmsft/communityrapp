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Lst>
  <p:notesMasterIdLst>
    <p:notesMasterId r:id="rId100"/>
  </p:notesMasterIdLst>
  <p:handoutMasterIdLst>
    <p:handoutMasterId r:id="rId101"/>
  </p:handout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14D70C25-0413-A24B-B22A-8EE89C82326F}">
          <p14:sldIdLst>
            <p14:sldId id="2076138278"/>
            <p14:sldId id="2076138423"/>
            <p14:sldId id="2076138424"/>
          </p14:sldIdLst>
        </p14:section>
        <p14:section name="Title Slides" id="{FB6EE416-AF16-AF40-804B-633D4962DAEE}">
          <p14:sldIdLst>
            <p14:sldId id="2076138262"/>
            <p14:sldId id="2076138457"/>
            <p14:sldId id="2076138456"/>
            <p14:sldId id="2076138454"/>
            <p14:sldId id="2076138453"/>
            <p14:sldId id="2076138275"/>
            <p14:sldId id="2076138451"/>
            <p14:sldId id="2076138459"/>
            <p14:sldId id="2076138385"/>
            <p14:sldId id="2076138452"/>
            <p14:sldId id="2076138450"/>
            <p14:sldId id="2076138449"/>
            <p14:sldId id="2076138448"/>
          </p14:sldIdLst>
        </p14:section>
        <p14:section name="Divider Slides" id="{2B2B9EE5-80B5-0947-8184-1ED7C2B03199}">
          <p14:sldIdLst>
            <p14:sldId id="2076138279"/>
            <p14:sldId id="2076138293"/>
            <p14:sldId id="2076138297"/>
            <p14:sldId id="2076138407"/>
            <p14:sldId id="2076138408"/>
            <p14:sldId id="2076138409"/>
            <p14:sldId id="2076138410"/>
            <p14:sldId id="2076138411"/>
            <p14:sldId id="2076138447"/>
            <p14:sldId id="2076138446"/>
            <p14:sldId id="2076138445"/>
            <p14:sldId id="2076138444"/>
            <p14:sldId id="2076138443"/>
            <p14:sldId id="2076138442"/>
            <p14:sldId id="2076138441"/>
            <p14:sldId id="2076138440"/>
            <p14:sldId id="2076138439"/>
            <p14:sldId id="2076138438"/>
            <p14:sldId id="2076138437"/>
            <p14:sldId id="2076138436"/>
            <p14:sldId id="2076138435"/>
            <p14:sldId id="2076138434"/>
            <p14:sldId id="2076138433"/>
            <p14:sldId id="2076138432"/>
            <p14:sldId id="2076138390"/>
            <p14:sldId id="2076138381"/>
          </p14:sldIdLst>
        </p14:section>
        <p14:section name="Agenda Slides" id="{055AFA19-D1E1-8A4D-B3CD-4F468CD7A2AE}">
          <p14:sldIdLst>
            <p14:sldId id="2076138431"/>
            <p14:sldId id="2076138430"/>
            <p14:sldId id="2076138299"/>
            <p14:sldId id="2076138298"/>
          </p14:sldIdLst>
        </p14:section>
        <p14:section name="Quote Slides" id="{8EE70886-F4DB-2F40-8FB8-37E5FE2E7F63}">
          <p14:sldIdLst>
            <p14:sldId id="2076138413"/>
            <p14:sldId id="2076138414"/>
            <p14:sldId id="2076138415"/>
          </p14:sldIdLst>
        </p14:section>
        <p14:section name="Project slide" id="{0E6C0102-0830-EE4B-863A-6D51F4F973A4}">
          <p14:sldIdLst>
            <p14:sldId id="2076138307"/>
          </p14:sldIdLst>
        </p14:section>
        <p14:section name="Timeline Slides" id="{C612CE83-33A7-4546-825B-9D3A615EC37E}">
          <p14:sldIdLst>
            <p14:sldId id="2076138347"/>
            <p14:sldId id="2076138349"/>
            <p14:sldId id="2076138354"/>
            <p14:sldId id="2076138351"/>
            <p14:sldId id="2076138327"/>
            <p14:sldId id="2076138333"/>
            <p14:sldId id="2076138329"/>
            <p14:sldId id="2076138331"/>
          </p14:sldIdLst>
        </p14:section>
        <p14:section name="Charts, Graphs, and Tables" id="{F28C5BC2-3741-EB40-97C4-2358C8EA86C4}">
          <p14:sldIdLst>
            <p14:sldId id="2076138328"/>
            <p14:sldId id="2076138357"/>
            <p14:sldId id="2076138358"/>
            <p14:sldId id="2076138334"/>
            <p14:sldId id="2076138346"/>
            <p14:sldId id="2076138345"/>
            <p14:sldId id="2076138355"/>
            <p14:sldId id="2076138363"/>
            <p14:sldId id="2076138375"/>
            <p14:sldId id="2076138377"/>
            <p14:sldId id="2076138380"/>
            <p14:sldId id="2076138394"/>
            <p14:sldId id="2076138412"/>
          </p14:sldIdLst>
        </p14:section>
        <p14:section name="Team Slides" id="{97C9990A-4872-1945-8603-E202CB6FDEC0}">
          <p14:sldIdLst>
            <p14:sldId id="2076138308"/>
            <p14:sldId id="2076138318"/>
            <p14:sldId id="2076138325"/>
            <p14:sldId id="2076138461"/>
          </p14:sldIdLst>
        </p14:section>
        <p14:section name="Resources" id="{EFDF35F9-E9F0-5745-AAB5-0D7314BAA3D1}">
          <p14:sldIdLst>
            <p14:sldId id="2076138462"/>
          </p14:sldIdLst>
        </p14:section>
        <p14:section name="Layouts" id="{8F59876D-C8D3-2D40-8540-E20264ECD2D1}">
          <p14:sldIdLst>
            <p14:sldId id="2076138429"/>
            <p14:sldId id="2076138359"/>
            <p14:sldId id="2076138339"/>
            <p14:sldId id="2076138341"/>
            <p14:sldId id="2076138343"/>
            <p14:sldId id="2076138463"/>
          </p14:sldIdLst>
        </p14:section>
        <p14:section name="More Photo Slides" id="{6EA33047-67DE-E544-B8BB-DED362DE3B9A}">
          <p14:sldIdLst>
            <p14:sldId id="2076138427"/>
            <p14:sldId id="2076138426"/>
            <p14:sldId id="2076138425"/>
            <p14:sldId id="2076138400"/>
            <p14:sldId id="2076138401"/>
            <p14:sldId id="2076138402"/>
          </p14:sldIdLst>
        </p14:section>
        <p14:section name="End Slides" id="{3416B164-ED24-6748-9066-0F67B8B820A2}">
          <p14:sldIdLst>
            <p14:sldId id="2076138464"/>
            <p14:sldId id="2076138365"/>
            <p14:sldId id="2076138366"/>
          </p14:sldIdLst>
        </p14:section>
        <p14:section name="Appendix" id="{E4FA3E3E-AC15-BE48-9542-7C82A78646F3}">
          <p14:sldIdLst>
            <p14:sldId id="2076138458"/>
            <p14:sldId id="2076138419"/>
            <p14:sldId id="2076138420"/>
            <p14:sldId id="2076138422"/>
          </p14:sldIdLst>
        </p14:section>
      </p14:sectionLst>
    </p:ext>
    <p:ext uri="{EFAFB233-063F-42B5-8137-9DF3F51BA10A}">
      <p15:sldGuideLst xmlns:p15="http://schemas.microsoft.com/office/powerpoint/2012/main">
        <p15:guide id="2" orient="horz" pos="640" userDrawn="1">
          <p15:clr>
            <a:srgbClr val="A4A3A4"/>
          </p15:clr>
        </p15:guide>
        <p15:guide id="3"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2F2F"/>
    <a:srgbClr val="FFFFFF"/>
    <a:srgbClr val="666666"/>
    <a:srgbClr val="000000"/>
    <a:srgbClr val="8661C5"/>
    <a:srgbClr val="D59DFF"/>
    <a:srgbClr val="50E6FF"/>
    <a:srgbClr val="0069BA"/>
    <a:srgbClr val="9BF00B"/>
    <a:srgbClr val="0F78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6321" autoAdjust="0"/>
  </p:normalViewPr>
  <p:slideViewPr>
    <p:cSldViewPr snapToGrid="0">
      <p:cViewPr varScale="1">
        <p:scale>
          <a:sx n="145" d="100"/>
          <a:sy n="145" d="100"/>
        </p:scale>
        <p:origin x="3150" y="348"/>
      </p:cViewPr>
      <p:guideLst>
        <p:guide orient="horz" pos="640"/>
        <p:guide pos="3840"/>
      </p:guideLst>
    </p:cSldViewPr>
  </p:slideViewPr>
  <p:outlineViewPr>
    <p:cViewPr>
      <p:scale>
        <a:sx n="33" d="100"/>
        <a:sy n="33" d="100"/>
      </p:scale>
      <p:origin x="0" y="-44436"/>
    </p:cViewPr>
  </p:outlineViewPr>
  <p:notesTextViewPr>
    <p:cViewPr>
      <p:scale>
        <a:sx n="125" d="100"/>
        <a:sy n="125" d="100"/>
      </p:scale>
      <p:origin x="0" y="0"/>
    </p:cViewPr>
  </p:notesTextViewPr>
  <p:sorterViewPr>
    <p:cViewPr varScale="1">
      <p:scale>
        <a:sx n="1" d="1"/>
        <a:sy n="1" d="1"/>
      </p:scale>
      <p:origin x="0" y="-20925"/>
    </p:cViewPr>
  </p:sorterViewPr>
  <p:notesViewPr>
    <p:cSldViewPr snapToGrid="0" showGuides="1">
      <p:cViewPr varScale="1">
        <p:scale>
          <a:sx n="169" d="100"/>
          <a:sy n="169" d="100"/>
        </p:scale>
        <p:origin x="5232" y="1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100" Type="http://schemas.openxmlformats.org/officeDocument/2006/relationships/notesMaster" Target="notesMasters/notesMaster1.xml"/><Relationship Id="rId101" Type="http://schemas.openxmlformats.org/officeDocument/2006/relationships/handoutMaster" Target="handoutMasters/handoutMaster1.xml"/><Relationship Id="rId102" Type="http://schemas.openxmlformats.org/officeDocument/2006/relationships/commentAuthors" Target="commentAuthors.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1/26/2026 12:47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1/26/2026 12:47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3.jp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image" Target="../media/image19.jpg"/><Relationship Id="rId5" Type="http://schemas.openxmlformats.org/officeDocument/2006/relationships/image" Target="../media/image20.jp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21.jp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21.jp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en-US"/>
              <a:t>Click icon to add picture</a:t>
            </a:r>
          </a:p>
        </p:txBody>
      </p:sp>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0899690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Left Title White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EC770E93-46FB-B04C-AFC6-A97F7105D84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36989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Square Border Photo">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75615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75615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F20930C2-FF47-3F44-BA93-EEDCB40578EB}"/>
              </a:ext>
            </a:extLst>
          </p:cNvPr>
          <p:cNvSpPr>
            <a:spLocks noGrp="1"/>
          </p:cNvSpPr>
          <p:nvPr>
            <p:ph type="pic" sz="quarter" idx="13"/>
          </p:nvPr>
        </p:nvSpPr>
        <p:spPr>
          <a:xfrm>
            <a:off x="5627688" y="292100"/>
            <a:ext cx="6270625" cy="6272213"/>
          </a:xfrm>
        </p:spPr>
        <p:txBody>
          <a:bodyPr/>
          <a:lstStyle/>
          <a:p>
            <a:r>
              <a:rPr lang="en-US"/>
              <a:t>Click icon to add picture</a:t>
            </a:r>
          </a:p>
        </p:txBody>
      </p:sp>
    </p:spTree>
    <p:extLst>
      <p:ext uri="{BB962C8B-B14F-4D97-AF65-F5344CB8AC3E}">
        <p14:creationId xmlns:p14="http://schemas.microsoft.com/office/powerpoint/2010/main" val="8673704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5" userDrawn="1">
          <p15:clr>
            <a:srgbClr val="FBAE40"/>
          </p15:clr>
        </p15:guide>
        <p15:guide id="6" pos="336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Slide Color Bkg">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dirty="0"/>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999618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Slide Black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3694579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85701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07088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691834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9388161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6551895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userDrawn="1">
          <p15:clr>
            <a:srgbClr val="5ACBF0"/>
          </p15:clr>
        </p15:guide>
        <p15:guide id="7" pos="1795" userDrawn="1">
          <p15:clr>
            <a:srgbClr val="5ACBF0"/>
          </p15:clr>
        </p15:guide>
        <p15:guide id="8" pos="3035" userDrawn="1">
          <p15:clr>
            <a:srgbClr val="5ACBF0"/>
          </p15:clr>
        </p15:guide>
        <p15:guide id="9" pos="3221" userDrawn="1">
          <p15:clr>
            <a:srgbClr val="5ACBF0"/>
          </p15:clr>
        </p15:guide>
        <p15:guide id="10" pos="4461" userDrawn="1">
          <p15:clr>
            <a:srgbClr val="5ACBF0"/>
          </p15:clr>
        </p15:guide>
        <p15:guide id="11" pos="5890" userDrawn="1">
          <p15:clr>
            <a:srgbClr val="5ACBF0"/>
          </p15:clr>
        </p15:guide>
        <p15:guide id="12" orient="horz" pos="1436">
          <p15:clr>
            <a:srgbClr val="5ACBF0"/>
          </p15:clr>
        </p15:guide>
        <p15:guide id="13" pos="4646" userDrawn="1">
          <p15:clr>
            <a:srgbClr val="5ACBF0"/>
          </p15:clr>
        </p15:guide>
        <p15:guide id="14" pos="6072"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endParaRPr lang="en-US" dirty="0"/>
          </a:p>
        </p:txBody>
      </p:sp>
    </p:spTree>
    <p:extLst>
      <p:ext uri="{BB962C8B-B14F-4D97-AF65-F5344CB8AC3E}">
        <p14:creationId xmlns:p14="http://schemas.microsoft.com/office/powerpoint/2010/main" val="613384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userDrawn="1">
          <p15:clr>
            <a:srgbClr val="5ACBF0"/>
          </p15:clr>
        </p15:guide>
        <p15:guide id="34" pos="3336"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userDrawn="1">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guide id="31" pos="38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44243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589192910"/>
      </p:ext>
    </p:extLst>
  </p:cSld>
  <p:clrMapOvr>
    <a:masterClrMapping/>
  </p:clrMapOvr>
  <p:transition>
    <p:fade/>
  </p:transition>
  <p:extLst>
    <p:ext uri="{DCECCB84-F9BA-43D5-87BE-67443E8EF086}">
      <p15:sldGuideLst xmlns:p15="http://schemas.microsoft.com/office/powerpoint/2012/main">
        <p15:guide id="2" orient="horz" pos="1162" userDrawn="1">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287030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658693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er Background Two Column Content with Subhead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941E1A-46FF-9B43-8237-B9FAC6645B8E}"/>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1"/>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495686"/>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5"/>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489200"/>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3330693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eader Background Three Column Bullet with Subtitl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B0B838-FFE7-3848-8346-94C828955739}"/>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7971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7905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7971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22089322"/>
      </p:ext>
    </p:extLst>
  </p:cSld>
  <p:clrMapOvr>
    <a:masterClrMapping/>
  </p:clrMapOvr>
  <p:transition>
    <p:fade/>
  </p:transition>
  <p:extLst>
    <p:ext uri="{DCECCB84-F9BA-43D5-87BE-67443E8EF086}">
      <p15:sldGuideLst xmlns:p15="http://schemas.microsoft.com/office/powerpoint/2012/main">
        <p15:guide id="3" orient="horz" pos="1162" userDrawn="1">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er Background Four Column Bullet with Subtitl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D56507-64E9-FD49-A968-94669A530F3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5996806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62"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2510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2274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6161C8D7-A314-D146-8B0F-88DAD8C243A2}"/>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3180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43174"/>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7699"/>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B52B4BDF-7433-F544-8549-B08FCF3FD2A9}"/>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5761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er Line 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CF841732-6515-3E42-A4B2-E3983B953B2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68791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46758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er Line Four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70829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cxnSp>
        <p:nvCxnSpPr>
          <p:cNvPr id="3" name="Straight Connector 2">
            <a:extLst>
              <a:ext uri="{FF2B5EF4-FFF2-40B4-BE49-F238E27FC236}">
                <a16:creationId xmlns:a16="http://schemas.microsoft.com/office/drawing/2014/main" id="{2502F9BD-EF25-7144-AB08-9EDFAA5C2CE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890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oAutofit/>
          </a:bodyPr>
          <a:lstStyle/>
          <a:p>
            <a:pPr algn="l"/>
            <a:r>
              <a:rPr lang="en-US" sz="3600" dirty="0">
                <a:solidFill>
                  <a:schemeClr val="tx2"/>
                </a:solidFill>
                <a:latin typeface="+mj-lt"/>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oAutofit/>
          </a:bodyPr>
          <a:lstStyle/>
          <a:p>
            <a:pPr algn="l"/>
            <a:r>
              <a:rPr lang="en-US" sz="3600" dirty="0">
                <a:solidFill>
                  <a:schemeClr val="tx2"/>
                </a:solidFill>
                <a:latin typeface="+mj-lt"/>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8886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Sep</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7838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1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137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Tree>
    <p:extLst>
      <p:ext uri="{BB962C8B-B14F-4D97-AF65-F5344CB8AC3E}">
        <p14:creationId xmlns:p14="http://schemas.microsoft.com/office/powerpoint/2010/main" val="1185091634"/>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tx2"/>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accent3"/>
                </a:solidFill>
              </a:defRPr>
            </a:lvl1pPr>
          </a:lstStyle>
          <a:p>
            <a:r>
              <a:rPr lang="en-US"/>
              <a:t>Click to edit Master title style</a:t>
            </a:r>
            <a:endParaRPr lang="en-US" dirty="0"/>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Tree>
    <p:extLst>
      <p:ext uri="{BB962C8B-B14F-4D97-AF65-F5344CB8AC3E}">
        <p14:creationId xmlns:p14="http://schemas.microsoft.com/office/powerpoint/2010/main" val="1598530170"/>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userDrawn="1"/>
        </p:nvSpPr>
        <p:spPr bwMode="auto">
          <a:xfrm>
            <a:off x="0"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3477325" cy="1107996"/>
          </a:xfrm>
        </p:spPr>
        <p:txBody>
          <a:bodyPr wrap="square">
            <a:spAutoFit/>
          </a:bodyPr>
          <a:lstStyle>
            <a:lvl1pPr>
              <a:defRPr>
                <a:solidFill>
                  <a:schemeClr val="accent3"/>
                </a:solidFill>
              </a:defRPr>
            </a:lvl1pPr>
          </a:lstStyle>
          <a:p>
            <a:r>
              <a:rPr lang="en-US"/>
              <a:t>Click to edit Master title style</a:t>
            </a:r>
            <a:endParaRPr lang="en-US" dirty="0"/>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430887"/>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212407088"/>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dirty="0"/>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en-US"/>
              <a:t>Click icon to add picture</a:t>
            </a:r>
            <a:endParaRPr lang="en-US" dirty="0"/>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435284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en-US"/>
              <a:t>Click icon to add picture</a:t>
            </a:r>
            <a:endParaRPr lang="en-US" dirty="0"/>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3470275" cy="2302169"/>
          </a:xfrm>
        </p:spPr>
        <p:txBody>
          <a:bodyPr/>
          <a:lstStyle>
            <a:lvl1pPr marL="0" indent="0">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6516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0" userDrawn="1">
          <p15:clr>
            <a:srgbClr val="A4A3A4"/>
          </p15:clr>
        </p15:guide>
        <p15:guide id="19" pos="334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full bleed upp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585789"/>
            <a:ext cx="12192000" cy="1362282"/>
          </a:xfrm>
          <a:noFill/>
        </p:spPr>
        <p:txBody>
          <a:bodyPr lIns="585216" tIns="0" rIns="585216" bIns="586800" anchor="t" anchorCtr="0">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17962772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5" name="Title 1">
            <a:extLst>
              <a:ext uri="{FF2B5EF4-FFF2-40B4-BE49-F238E27FC236}">
                <a16:creationId xmlns:a16="http://schemas.microsoft.com/office/drawing/2014/main" id="{04D80903-AB2F-EA47-B1B9-181A4D5084E7}"/>
              </a:ext>
            </a:extLst>
          </p:cNvPr>
          <p:cNvSpPr txBox="1">
            <a:spLocks/>
          </p:cNvSpPr>
          <p:nvPr userDrawn="1"/>
        </p:nvSpPr>
        <p:spPr>
          <a:xfrm>
            <a:off x="584200" y="2425780"/>
            <a:ext cx="5511800" cy="1107996"/>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anose="020B0502040204020203" pitchFamily="34" charset="0"/>
              </a:defRPr>
            </a:lvl1pPr>
          </a:lstStyle>
          <a:p>
            <a:r>
              <a:rPr lang="en-US"/>
              <a:t>Event name or presentation title </a:t>
            </a:r>
            <a:endParaRPr lang="en-US" dirty="0"/>
          </a:p>
        </p:txBody>
      </p:sp>
      <p:sp>
        <p:nvSpPr>
          <p:cNvPr id="7" name="Text Placeholder 4">
            <a:extLst>
              <a:ext uri="{FF2B5EF4-FFF2-40B4-BE49-F238E27FC236}">
                <a16:creationId xmlns:a16="http://schemas.microsoft.com/office/drawing/2014/main" id="{A200C02C-4314-EE45-A300-21710CAE4FE5}"/>
              </a:ext>
            </a:extLst>
          </p:cNvPr>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9" name="MS logo white - EMF" descr="Microsoft logo white text version">
            <a:extLst>
              <a:ext uri="{FF2B5EF4-FFF2-40B4-BE49-F238E27FC236}">
                <a16:creationId xmlns:a16="http://schemas.microsoft.com/office/drawing/2014/main" id="{EDE56B65-3E69-6146-8830-D107DE1E3AE7}"/>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9094434"/>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l">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2058752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userDrawn="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userDrawn="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userDrawn="1">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624772569"/>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4" orient="horz" pos="3209" userDrawn="1">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userDrawn="1">
          <p15:clr>
            <a:srgbClr val="5ACBF0"/>
          </p15:clr>
        </p15:guide>
        <p15:guide id="15" pos="3451" userDrawn="1">
          <p15:clr>
            <a:srgbClr val="5ACBF0"/>
          </p15:clr>
        </p15:guide>
        <p15:guide id="16" pos="4229" userDrawn="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82817732"/>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userDrawn="1">
          <p15:clr>
            <a:srgbClr val="5ACBF0"/>
          </p15:clr>
        </p15:guide>
        <p15:guide id="15" pos="2168" userDrawn="1">
          <p15:clr>
            <a:srgbClr val="5ACBF0"/>
          </p15:clr>
        </p15:guide>
        <p15:guide id="16" pos="2944" userDrawn="1">
          <p15:clr>
            <a:srgbClr val="5ACBF0"/>
          </p15:clr>
        </p15:guide>
        <p15:guide id="17" pos="4738" userDrawn="1">
          <p15:clr>
            <a:srgbClr val="5ACBF0"/>
          </p15:clr>
        </p15:guide>
        <p15:guide id="18" pos="5514" userDrawn="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45299928"/>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userDrawn="1">
          <p15:clr>
            <a:srgbClr val="5ACBF0"/>
          </p15:clr>
        </p15:guide>
        <p15:guide id="16" pos="1524" userDrawn="1">
          <p15:clr>
            <a:srgbClr val="5ACBF0"/>
          </p15:clr>
        </p15:guide>
        <p15:guide id="17" pos="2298" userDrawn="1">
          <p15:clr>
            <a:srgbClr val="5ACBF0"/>
          </p15:clr>
        </p15:guide>
        <p15:guide id="18" pos="3450" userDrawn="1">
          <p15:clr>
            <a:srgbClr val="5ACBF0"/>
          </p15:clr>
        </p15:guide>
        <p15:guide id="19" pos="4230" userDrawn="1">
          <p15:clr>
            <a:srgbClr val="5ACBF0"/>
          </p15:clr>
        </p15:guide>
        <p15:guide id="20" pos="5380" userDrawn="1">
          <p15:clr>
            <a:srgbClr val="5ACBF0"/>
          </p15:clr>
        </p15:guide>
        <p15:guide id="21" pos="6156" userDrawn="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059039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5616026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userDrawn="1">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675316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userDrawn="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746468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userDrawn="1">
          <p15:clr>
            <a:srgbClr val="5ACBF0"/>
          </p15:clr>
        </p15:guide>
        <p15:guide id="3" pos="6216" userDrawn="1">
          <p15:clr>
            <a:srgbClr val="5ACBF0"/>
          </p15:clr>
        </p15:guide>
        <p15:guide id="5" pos="5850" userDrawn="1">
          <p15:clr>
            <a:srgbClr val="5ACBF0"/>
          </p15:clr>
        </p15:guide>
        <p15:guide id="7" pos="4392" userDrawn="1">
          <p15:clr>
            <a:srgbClr val="5ACBF0"/>
          </p15:clr>
        </p15:guide>
        <p15:guide id="8" pos="3292" userDrawn="1">
          <p15:clr>
            <a:srgbClr val="5ACBF0"/>
          </p15:clr>
        </p15:guide>
        <p15:guide id="10" pos="2926">
          <p15:clr>
            <a:srgbClr val="5ACBF0"/>
          </p15:clr>
        </p15:guide>
        <p15:guide id="11" pos="4754" userDrawn="1">
          <p15:clr>
            <a:srgbClr val="5ACBF0"/>
          </p15:clr>
        </p15:guide>
        <p15:guide id="13" pos="1464" userDrawn="1">
          <p15:clr>
            <a:srgbClr val="5ACBF0"/>
          </p15:clr>
        </p15:guide>
        <p15:guide id="14" orient="horz" pos="1440">
          <p15:clr>
            <a:srgbClr val="5ACBF0"/>
          </p15:clr>
        </p15:guide>
        <p15:guide id="15" pos="1830" userDrawn="1">
          <p15:clr>
            <a:srgbClr val="5ACBF0"/>
          </p15:clr>
        </p15:guide>
        <p15:guide id="16" orient="horz" pos="2533" userDrawn="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slide 1b">
    <p:bg>
      <p:bgRef idx="1001">
        <a:schemeClr val="bg2"/>
      </p:bgRef>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tx1"/>
                </a:solidFill>
                <a:latin typeface="+mj-lt"/>
              </a:defRPr>
            </a:lvl1pPr>
          </a:lstStyle>
          <a:p>
            <a:pPr lvl="0"/>
            <a:r>
              <a:rPr lang="en-US" dirty="0"/>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tx1"/>
                </a:solidFill>
                <a:latin typeface="+mn-lt"/>
              </a:defRPr>
            </a:lvl1pPr>
          </a:lstStyle>
          <a:p>
            <a:pPr lvl="0"/>
            <a:r>
              <a:rPr lang="en-US" dirty="0"/>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025650"/>
            <a:ext cx="9866313" cy="1661993"/>
          </a:xfrm>
        </p:spPr>
        <p:txBody>
          <a:bodyPr anchor="b"/>
          <a:lstStyle>
            <a:lvl1pPr>
              <a:defRPr>
                <a:solidFill>
                  <a:schemeClr val="accent3"/>
                </a:solidFill>
              </a:defRPr>
            </a:lvl1pPr>
          </a:lstStyle>
          <a:p>
            <a:r>
              <a:rPr lang="en-US" dirty="0"/>
              <a:t>Add quote text here Add quote text here Add quote text here Add quote text here Add quote text here</a:t>
            </a:r>
          </a:p>
        </p:txBody>
      </p:sp>
    </p:spTree>
    <p:extLst>
      <p:ext uri="{BB962C8B-B14F-4D97-AF65-F5344CB8AC3E}">
        <p14:creationId xmlns:p14="http://schemas.microsoft.com/office/powerpoint/2010/main" val="32705632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slide 2b">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9D5D9-B234-7B4F-90F8-2A7ABA2E4ABF}"/>
              </a:ext>
            </a:extLst>
          </p:cNvPr>
          <p:cNvSpPr/>
          <p:nvPr userDrawn="1"/>
        </p:nvSpPr>
        <p:spPr bwMode="auto">
          <a:xfrm>
            <a:off x="0" y="0"/>
            <a:ext cx="8128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2044961"/>
            <a:ext cx="3478213" cy="276999"/>
          </a:xfrm>
        </p:spPr>
        <p:txBody>
          <a:bodyPr/>
          <a:lstStyle>
            <a:lvl1pPr marL="0" indent="0" algn="l">
              <a:spcBef>
                <a:spcPts val="0"/>
              </a:spcBef>
              <a:buNone/>
              <a:defRPr sz="1800">
                <a:latin typeface="+mj-lt"/>
              </a:defRPr>
            </a:lvl1pPr>
          </a:lstStyle>
          <a:p>
            <a:pPr lvl="0"/>
            <a:r>
              <a:rPr lang="en-US" dirty="0"/>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2342540"/>
            <a:ext cx="3478213" cy="215444"/>
          </a:xfrm>
        </p:spPr>
        <p:txBody>
          <a:bodyPr/>
          <a:lstStyle>
            <a:lvl1pPr marL="0" indent="0" algn="l">
              <a:spcBef>
                <a:spcPts val="0"/>
              </a:spcBef>
              <a:buNone/>
              <a:defRPr sz="1400">
                <a:solidFill>
                  <a:schemeClr val="accent6"/>
                </a:solidFill>
                <a:latin typeface="+mn-lt"/>
              </a:defRPr>
            </a:lvl1pPr>
          </a:lstStyle>
          <a:p>
            <a:pPr lvl="0"/>
            <a:r>
              <a:rPr lang="en-US" dirty="0"/>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553998"/>
          </a:xfrm>
        </p:spPr>
        <p:txBody>
          <a:bodyPr anchor="t"/>
          <a:lstStyle>
            <a:lvl1pPr>
              <a:defRPr>
                <a:solidFill>
                  <a:schemeClr val="accent3"/>
                </a:solidFill>
              </a:defRPr>
            </a:lvl1pPr>
          </a:lstStyle>
          <a:p>
            <a:r>
              <a:rPr lang="en-US" dirty="0"/>
              <a:t>Add quote text here</a:t>
            </a:r>
          </a:p>
        </p:txBody>
      </p:sp>
    </p:spTree>
    <p:extLst>
      <p:ext uri="{BB962C8B-B14F-4D97-AF65-F5344CB8AC3E}">
        <p14:creationId xmlns:p14="http://schemas.microsoft.com/office/powerpoint/2010/main" val="16069523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slide with picture - al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1163638" y="3779493"/>
            <a:ext cx="6372225" cy="276999"/>
          </a:xfrm>
        </p:spPr>
        <p:txBody>
          <a:bodyPr/>
          <a:lstStyle>
            <a:lvl1pPr marL="0" indent="0" algn="l">
              <a:spcBef>
                <a:spcPts val="0"/>
              </a:spcBef>
              <a:buNone/>
              <a:defRPr sz="1800">
                <a:solidFill>
                  <a:schemeClr val="accent6"/>
                </a:solidFill>
                <a:latin typeface="+mj-lt"/>
              </a:defRPr>
            </a:lvl1pPr>
          </a:lstStyle>
          <a:p>
            <a:pPr lvl="0"/>
            <a:r>
              <a:rPr lang="en-US" dirty="0"/>
              <a:t>Name attribute</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25" name="Picture Placeholder 24">
            <a:extLst>
              <a:ext uri="{FF2B5EF4-FFF2-40B4-BE49-F238E27FC236}">
                <a16:creationId xmlns:a16="http://schemas.microsoft.com/office/drawing/2014/main" id="{DB4C8BDC-6825-414F-89F2-3D7A2187253C}"/>
              </a:ext>
            </a:extLst>
          </p:cNvPr>
          <p:cNvSpPr>
            <a:spLocks noGrp="1"/>
          </p:cNvSpPr>
          <p:nvPr>
            <p:ph type="pic" sz="quarter" idx="19"/>
          </p:nvPr>
        </p:nvSpPr>
        <p:spPr>
          <a:xfrm>
            <a:off x="7835900" y="0"/>
            <a:ext cx="4356100" cy="6858000"/>
          </a:xfrm>
        </p:spPr>
        <p:txBody>
          <a:bodyPr/>
          <a:lstStyle/>
          <a:p>
            <a:r>
              <a:rPr lang="en-US"/>
              <a:t>Click icon to add picture</a:t>
            </a:r>
            <a:endParaRPr lang="en-US" dirty="0"/>
          </a:p>
        </p:txBody>
      </p:sp>
      <p:sp>
        <p:nvSpPr>
          <p:cNvPr id="26" name="Text Placeholder 3">
            <a:extLst>
              <a:ext uri="{FF2B5EF4-FFF2-40B4-BE49-F238E27FC236}">
                <a16:creationId xmlns:a16="http://schemas.microsoft.com/office/drawing/2014/main" id="{90DE3A0D-12BA-BE4F-85C2-FCD13F863574}"/>
              </a:ext>
            </a:extLst>
          </p:cNvPr>
          <p:cNvSpPr>
            <a:spLocks noGrp="1"/>
          </p:cNvSpPr>
          <p:nvPr>
            <p:ph type="body" sz="quarter" idx="20" hasCustomPrompt="1"/>
          </p:nvPr>
        </p:nvSpPr>
        <p:spPr>
          <a:xfrm>
            <a:off x="1163638" y="4077072"/>
            <a:ext cx="6372225" cy="215444"/>
          </a:xfrm>
        </p:spPr>
        <p:txBody>
          <a:bodyPr/>
          <a:lstStyle>
            <a:lvl1pPr marL="0" indent="0" algn="l">
              <a:spcBef>
                <a:spcPts val="0"/>
              </a:spcBef>
              <a:buNone/>
              <a:defRPr sz="1400">
                <a:solidFill>
                  <a:schemeClr val="accent6"/>
                </a:solidFill>
                <a:latin typeface="+mn-lt"/>
              </a:defRPr>
            </a:lvl1pPr>
          </a:lstStyle>
          <a:p>
            <a:pPr lvl="0"/>
            <a:r>
              <a:rPr lang="en-US" dirty="0"/>
              <a:t>Job title or another attribute</a:t>
            </a:r>
          </a:p>
        </p:txBody>
      </p:sp>
      <p:sp>
        <p:nvSpPr>
          <p:cNvPr id="27" name="Title 1">
            <a:extLst>
              <a:ext uri="{FF2B5EF4-FFF2-40B4-BE49-F238E27FC236}">
                <a16:creationId xmlns:a16="http://schemas.microsoft.com/office/drawing/2014/main" id="{4AA6D598-4BC5-AF4E-B609-A7442E6DEBD3}"/>
              </a:ext>
            </a:extLst>
          </p:cNvPr>
          <p:cNvSpPr>
            <a:spLocks noGrp="1"/>
          </p:cNvSpPr>
          <p:nvPr>
            <p:ph type="title" hasCustomPrompt="1"/>
          </p:nvPr>
        </p:nvSpPr>
        <p:spPr>
          <a:xfrm>
            <a:off x="1163638" y="2025650"/>
            <a:ext cx="6372225" cy="553998"/>
          </a:xfrm>
        </p:spPr>
        <p:txBody>
          <a:bodyPr anchor="t"/>
          <a:lstStyle>
            <a:lvl1pPr>
              <a:defRPr>
                <a:solidFill>
                  <a:schemeClr val="tx1"/>
                </a:solidFill>
              </a:defRPr>
            </a:lvl1pPr>
          </a:lstStyle>
          <a:p>
            <a:r>
              <a:rPr lang="en-US" dirty="0"/>
              <a:t>Add quote text here</a:t>
            </a:r>
          </a:p>
        </p:txBody>
      </p:sp>
    </p:spTree>
    <p:extLst>
      <p:ext uri="{BB962C8B-B14F-4D97-AF65-F5344CB8AC3E}">
        <p14:creationId xmlns:p14="http://schemas.microsoft.com/office/powerpoint/2010/main" val="103861675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733" userDrawn="1">
          <p15:clr>
            <a:srgbClr val="5ACBF0"/>
          </p15:clr>
        </p15:guide>
        <p15:guide id="7" pos="4747" userDrawn="1">
          <p15:clr>
            <a:srgbClr val="5ACBF0"/>
          </p15:clr>
        </p15:guide>
        <p15:guide id="8" pos="4936">
          <p15:clr>
            <a:srgbClr val="5ACBF0"/>
          </p15:clr>
        </p15:guide>
        <p15:guide id="9" pos="5123">
          <p15:clr>
            <a:srgbClr val="5ACBF0"/>
          </p15:clr>
        </p15:guide>
        <p15:guide id="10" orient="horz" pos="3465" userDrawn="1">
          <p15:clr>
            <a:srgbClr val="5ACBF0"/>
          </p15:clr>
        </p15:guide>
        <p15:guide id="11" orient="horz" pos="1956" userDrawn="1">
          <p15:clr>
            <a:srgbClr val="FBAE40"/>
          </p15:clr>
        </p15:guide>
        <p15:guide id="12" pos="1096"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dirty="0"/>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69616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04964009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Title and text side by sid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48745"/>
          </a:xfrm>
        </p:spPr>
        <p:txBody>
          <a:bodyPr anchor="t">
            <a:noAutofit/>
          </a:bodyPr>
          <a:lstStyle>
            <a:lvl1pPr>
              <a:defRPr>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9"/>
            <a:ext cx="1873779"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78310202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585789"/>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585789"/>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429000"/>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429000"/>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585789"/>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429000"/>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Tree>
    <p:extLst>
      <p:ext uri="{BB962C8B-B14F-4D97-AF65-F5344CB8AC3E}">
        <p14:creationId xmlns:p14="http://schemas.microsoft.com/office/powerpoint/2010/main" val="814874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Left Title 3 Column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961465"/>
            <a:ext cx="158908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961465"/>
            <a:ext cx="1584325"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818966"/>
            <a:ext cx="1589088" cy="2453246"/>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818965"/>
            <a:ext cx="1584325" cy="24532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968188"/>
            <a:ext cx="159543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832412"/>
            <a:ext cx="1595438" cy="2439800"/>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9" name="Text Placeholder 2">
            <a:extLst>
              <a:ext uri="{FF2B5EF4-FFF2-40B4-BE49-F238E27FC236}">
                <a16:creationId xmlns:a16="http://schemas.microsoft.com/office/drawing/2014/main" id="{CC8AF00F-83DA-104D-A2BF-D2C439FE9BB3}"/>
              </a:ext>
            </a:extLst>
          </p:cNvPr>
          <p:cNvSpPr>
            <a:spLocks noGrp="1"/>
          </p:cNvSpPr>
          <p:nvPr>
            <p:ph type="body" sz="quarter" idx="17" hasCustomPrompt="1"/>
          </p:nvPr>
        </p:nvSpPr>
        <p:spPr>
          <a:xfrm>
            <a:off x="4370387" y="585789"/>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1</a:t>
            </a:r>
          </a:p>
        </p:txBody>
      </p:sp>
      <p:sp>
        <p:nvSpPr>
          <p:cNvPr id="10" name="Text Placeholder 2">
            <a:extLst>
              <a:ext uri="{FF2B5EF4-FFF2-40B4-BE49-F238E27FC236}">
                <a16:creationId xmlns:a16="http://schemas.microsoft.com/office/drawing/2014/main" id="{24A44678-F325-7746-8C84-E6F44D505769}"/>
              </a:ext>
            </a:extLst>
          </p:cNvPr>
          <p:cNvSpPr>
            <a:spLocks noGrp="1"/>
          </p:cNvSpPr>
          <p:nvPr>
            <p:ph type="body" sz="quarter" idx="18" hasCustomPrompt="1"/>
          </p:nvPr>
        </p:nvSpPr>
        <p:spPr>
          <a:xfrm>
            <a:off x="7192962" y="585789"/>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2</a:t>
            </a:r>
          </a:p>
        </p:txBody>
      </p:sp>
      <p:sp>
        <p:nvSpPr>
          <p:cNvPr id="12" name="Text Placeholder 2">
            <a:extLst>
              <a:ext uri="{FF2B5EF4-FFF2-40B4-BE49-F238E27FC236}">
                <a16:creationId xmlns:a16="http://schemas.microsoft.com/office/drawing/2014/main" id="{0EF3CCAA-003D-324C-9FAA-5B5DC19336A2}"/>
              </a:ext>
            </a:extLst>
          </p:cNvPr>
          <p:cNvSpPr>
            <a:spLocks noGrp="1"/>
          </p:cNvSpPr>
          <p:nvPr>
            <p:ph type="body" sz="quarter" idx="19" hasCustomPrompt="1"/>
          </p:nvPr>
        </p:nvSpPr>
        <p:spPr>
          <a:xfrm>
            <a:off x="10013950" y="585789"/>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3</a:t>
            </a:r>
          </a:p>
        </p:txBody>
      </p:sp>
      <p:sp>
        <p:nvSpPr>
          <p:cNvPr id="13" name="Text Placeholder 2">
            <a:extLst>
              <a:ext uri="{FF2B5EF4-FFF2-40B4-BE49-F238E27FC236}">
                <a16:creationId xmlns:a16="http://schemas.microsoft.com/office/drawing/2014/main" id="{C2BCACD0-0017-9A49-9325-DCBC40CB2C2D}"/>
              </a:ext>
            </a:extLst>
          </p:cNvPr>
          <p:cNvSpPr>
            <a:spLocks noGrp="1"/>
          </p:cNvSpPr>
          <p:nvPr>
            <p:ph type="body" sz="quarter" idx="20" hasCustomPrompt="1"/>
          </p:nvPr>
        </p:nvSpPr>
        <p:spPr>
          <a:xfrm>
            <a:off x="4371875" y="3442448"/>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4</a:t>
            </a:r>
          </a:p>
        </p:txBody>
      </p:sp>
      <p:sp>
        <p:nvSpPr>
          <p:cNvPr id="14" name="Text Placeholder 2">
            <a:extLst>
              <a:ext uri="{FF2B5EF4-FFF2-40B4-BE49-F238E27FC236}">
                <a16:creationId xmlns:a16="http://schemas.microsoft.com/office/drawing/2014/main" id="{E251C719-BC21-8C4B-9DBC-6E80CFA162A9}"/>
              </a:ext>
            </a:extLst>
          </p:cNvPr>
          <p:cNvSpPr>
            <a:spLocks noGrp="1"/>
          </p:cNvSpPr>
          <p:nvPr>
            <p:ph type="body" sz="quarter" idx="21" hasCustomPrompt="1"/>
          </p:nvPr>
        </p:nvSpPr>
        <p:spPr>
          <a:xfrm>
            <a:off x="7198939" y="3442447"/>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5</a:t>
            </a:r>
          </a:p>
        </p:txBody>
      </p:sp>
      <p:sp>
        <p:nvSpPr>
          <p:cNvPr id="15" name="Text Placeholder 2">
            <a:extLst>
              <a:ext uri="{FF2B5EF4-FFF2-40B4-BE49-F238E27FC236}">
                <a16:creationId xmlns:a16="http://schemas.microsoft.com/office/drawing/2014/main" id="{F4273179-F1BC-0844-A024-D6A32BBE630E}"/>
              </a:ext>
            </a:extLst>
          </p:cNvPr>
          <p:cNvSpPr>
            <a:spLocks noGrp="1"/>
          </p:cNvSpPr>
          <p:nvPr>
            <p:ph type="body" sz="quarter" idx="22" hasCustomPrompt="1"/>
          </p:nvPr>
        </p:nvSpPr>
        <p:spPr>
          <a:xfrm>
            <a:off x="10013950" y="3453944"/>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6</a:t>
            </a:r>
          </a:p>
        </p:txBody>
      </p:sp>
      <p:sp>
        <p:nvSpPr>
          <p:cNvPr id="17" name="Text Placeholder 16">
            <a:extLst>
              <a:ext uri="{FF2B5EF4-FFF2-40B4-BE49-F238E27FC236}">
                <a16:creationId xmlns:a16="http://schemas.microsoft.com/office/drawing/2014/main" id="{A6C6A35A-94DF-F144-AECD-CDD578CC4A7D}"/>
              </a:ext>
            </a:extLst>
          </p:cNvPr>
          <p:cNvSpPr>
            <a:spLocks noGrp="1"/>
          </p:cNvSpPr>
          <p:nvPr>
            <p:ph type="body" sz="quarter" idx="23"/>
          </p:nvPr>
        </p:nvSpPr>
        <p:spPr>
          <a:xfrm>
            <a:off x="584200" y="1436688"/>
            <a:ext cx="2538413" cy="1249573"/>
          </a:xfrm>
        </p:spPr>
        <p:txBody>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61988" indent="0">
              <a:buNone/>
              <a:defRPr sz="1400">
                <a:solidFill>
                  <a:schemeClr val="tx1"/>
                </a:solidFill>
              </a:defRPr>
            </a:lvl4pPr>
            <a:lvl5pPr marL="855663"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18799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0" pos="1967">
          <p15:clr>
            <a:srgbClr val="A4A3A4"/>
          </p15:clr>
        </p15:guide>
        <p15:guide id="11" pos="2150">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8" orient="horz" pos="905">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47770739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13" name="Text Placeholder 12">
            <a:extLst>
              <a:ext uri="{FF2B5EF4-FFF2-40B4-BE49-F238E27FC236}">
                <a16:creationId xmlns:a16="http://schemas.microsoft.com/office/drawing/2014/main" id="{5A7F7DDB-BF21-0B40-8DBB-D5BC0B4C25FC}"/>
              </a:ext>
            </a:extLst>
          </p:cNvPr>
          <p:cNvSpPr>
            <a:spLocks noGrp="1"/>
          </p:cNvSpPr>
          <p:nvPr>
            <p:ph type="body" sz="quarter" idx="12" hasCustomPrompt="1"/>
          </p:nvPr>
        </p:nvSpPr>
        <p:spPr>
          <a:xfrm>
            <a:off x="49418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4" name="Text Placeholder 12">
            <a:extLst>
              <a:ext uri="{FF2B5EF4-FFF2-40B4-BE49-F238E27FC236}">
                <a16:creationId xmlns:a16="http://schemas.microsoft.com/office/drawing/2014/main" id="{4BDDDD90-9BFD-D94C-A026-A013126F234B}"/>
              </a:ext>
            </a:extLst>
          </p:cNvPr>
          <p:cNvSpPr>
            <a:spLocks noGrp="1"/>
          </p:cNvSpPr>
          <p:nvPr>
            <p:ph type="body" sz="quarter" idx="13" hasCustomPrompt="1"/>
          </p:nvPr>
        </p:nvSpPr>
        <p:spPr>
          <a:xfrm>
            <a:off x="86882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5" name="Text Placeholder 12">
            <a:extLst>
              <a:ext uri="{FF2B5EF4-FFF2-40B4-BE49-F238E27FC236}">
                <a16:creationId xmlns:a16="http://schemas.microsoft.com/office/drawing/2014/main" id="{232B6EB5-03C8-914E-9180-000AE9B40A6D}"/>
              </a:ext>
            </a:extLst>
          </p:cNvPr>
          <p:cNvSpPr>
            <a:spLocks noGrp="1"/>
          </p:cNvSpPr>
          <p:nvPr>
            <p:ph type="body" sz="quarter" idx="14" hasCustomPrompt="1"/>
          </p:nvPr>
        </p:nvSpPr>
        <p:spPr>
          <a:xfrm>
            <a:off x="49419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6" name="Text Placeholder 12">
            <a:extLst>
              <a:ext uri="{FF2B5EF4-FFF2-40B4-BE49-F238E27FC236}">
                <a16:creationId xmlns:a16="http://schemas.microsoft.com/office/drawing/2014/main" id="{E05CAB66-4649-1E49-8948-4B95A4DA20C6}"/>
              </a:ext>
            </a:extLst>
          </p:cNvPr>
          <p:cNvSpPr>
            <a:spLocks noGrp="1"/>
          </p:cNvSpPr>
          <p:nvPr>
            <p:ph type="body" sz="quarter" idx="15" hasCustomPrompt="1"/>
          </p:nvPr>
        </p:nvSpPr>
        <p:spPr>
          <a:xfrm>
            <a:off x="86883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7" name="Text Placeholder 12">
            <a:extLst>
              <a:ext uri="{FF2B5EF4-FFF2-40B4-BE49-F238E27FC236}">
                <a16:creationId xmlns:a16="http://schemas.microsoft.com/office/drawing/2014/main" id="{42F89A67-E82E-F843-9DEB-23D191BCA6DA}"/>
              </a:ext>
            </a:extLst>
          </p:cNvPr>
          <p:cNvSpPr>
            <a:spLocks noGrp="1"/>
          </p:cNvSpPr>
          <p:nvPr>
            <p:ph type="body" sz="quarter" idx="16" hasCustomPrompt="1"/>
          </p:nvPr>
        </p:nvSpPr>
        <p:spPr>
          <a:xfrm>
            <a:off x="49419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8" name="Text Placeholder 12">
            <a:extLst>
              <a:ext uri="{FF2B5EF4-FFF2-40B4-BE49-F238E27FC236}">
                <a16:creationId xmlns:a16="http://schemas.microsoft.com/office/drawing/2014/main" id="{0B8598BC-5AC5-AD4D-A8E2-20CD9CD176BF}"/>
              </a:ext>
            </a:extLst>
          </p:cNvPr>
          <p:cNvSpPr>
            <a:spLocks noGrp="1"/>
          </p:cNvSpPr>
          <p:nvPr>
            <p:ph type="body" sz="quarter" idx="17" hasCustomPrompt="1"/>
          </p:nvPr>
        </p:nvSpPr>
        <p:spPr>
          <a:xfrm>
            <a:off x="86883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Tree>
    <p:extLst>
      <p:ext uri="{BB962C8B-B14F-4D97-AF65-F5344CB8AC3E}">
        <p14:creationId xmlns:p14="http://schemas.microsoft.com/office/powerpoint/2010/main" val="367836929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Resources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4943872"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4943871"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4943971"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4943970"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4943971"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4943970"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Tree>
    <p:extLst>
      <p:ext uri="{BB962C8B-B14F-4D97-AF65-F5344CB8AC3E}">
        <p14:creationId xmlns:p14="http://schemas.microsoft.com/office/powerpoint/2010/main" val="152312443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dirty="0"/>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9248679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783590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75047256"/>
      </p:ext>
    </p:extLst>
  </p:cSld>
  <p:clrMapOvr>
    <a:masterClrMapping/>
  </p:clrMapOvr>
  <p:transition>
    <p:fade/>
  </p:transition>
  <p:extLst>
    <p:ext uri="{DCECCB84-F9BA-43D5-87BE-67443E8EF086}">
      <p15:sldGuideLst xmlns:p15="http://schemas.microsoft.com/office/powerpoint/2012/main">
        <p15:guide id="13" pos="4929" userDrawn="1">
          <p15:clr>
            <a:srgbClr val="5ACBF0"/>
          </p15:clr>
        </p15:guide>
        <p15:guide id="29" orient="horz" pos="2160">
          <p15:clr>
            <a:srgbClr val="5ACBF0"/>
          </p15:clr>
        </p15:guide>
        <p15:guide id="30" pos="4566" userDrawn="1">
          <p15:clr>
            <a:srgbClr val="5ACBF0"/>
          </p15:clr>
        </p15:guide>
        <p15:guide id="31" pos="4203" userDrawn="1">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noAutofit/>
          </a:bodyPr>
          <a:lstStyle>
            <a:lvl1pPr>
              <a:defRPr>
                <a:solidFill>
                  <a:schemeClr val="tx1"/>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88644385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userDrawn="1"/>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dirty="0"/>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0532634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userDrawn="1">
          <p15:clr>
            <a:srgbClr val="A4A3A4"/>
          </p15:clr>
        </p15:guide>
        <p15:guide id="28" pos="3840">
          <p15:clr>
            <a:srgbClr val="F26B43"/>
          </p15:clr>
        </p15:guide>
        <p15:guide id="29" pos="3454" userDrawn="1">
          <p15:clr>
            <a:srgbClr val="FBAE40"/>
          </p15:clr>
        </p15:guide>
        <p15:guide id="30" pos="4203"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roject Profi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3" y="585788"/>
            <a:ext cx="4726687" cy="850900"/>
          </a:xfrm>
        </p:spPr>
        <p:txBody>
          <a:bodyPr anchor="t">
            <a:noAutofit/>
          </a:bodyPr>
          <a:lstStyle>
            <a:lvl1pPr>
              <a:defRPr>
                <a:solidFill>
                  <a:schemeClr val="accent3"/>
                </a:solidFill>
              </a:defRPr>
            </a:lvl1pPr>
          </a:lstStyle>
          <a:p>
            <a:r>
              <a:rPr lang="en-US" dirty="0"/>
              <a:t>Project Name</a:t>
            </a:r>
          </a:p>
        </p:txBody>
      </p:sp>
      <p:cxnSp>
        <p:nvCxnSpPr>
          <p:cNvPr id="11" name="Straight Connector 10">
            <a:extLst>
              <a:ext uri="{FF2B5EF4-FFF2-40B4-BE49-F238E27FC236}">
                <a16:creationId xmlns:a16="http://schemas.microsoft.com/office/drawing/2014/main" id="{B2304FDD-17CA-A147-9CB2-F7A4E83816B0}"/>
              </a:ext>
            </a:extLst>
          </p:cNvPr>
          <p:cNvCxnSpPr/>
          <p:nvPr userDrawn="1"/>
        </p:nvCxnSpPr>
        <p:spPr>
          <a:xfrm>
            <a:off x="6240463" y="2028346"/>
            <a:ext cx="5368925"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7E88AE75-9022-0C40-AABE-5A0B8F88A37D}"/>
              </a:ext>
            </a:extLst>
          </p:cNvPr>
          <p:cNvSpPr>
            <a:spLocks noGrp="1"/>
          </p:cNvSpPr>
          <p:nvPr>
            <p:ph type="body" sz="quarter" idx="10" hasCustomPrompt="1"/>
          </p:nvPr>
        </p:nvSpPr>
        <p:spPr>
          <a:xfrm>
            <a:off x="584201" y="2017713"/>
            <a:ext cx="3481387" cy="2326791"/>
          </a:xfrm>
        </p:spPr>
        <p:txBody>
          <a:bodyPr/>
          <a:lstStyle>
            <a:lvl1pPr marL="0" indent="0">
              <a:lnSpc>
                <a:spcPct val="100000"/>
              </a:lnSpc>
              <a:buNone/>
              <a:defRPr sz="1800">
                <a:solidFill>
                  <a:schemeClr val="bg1"/>
                </a:solidFill>
              </a:defRPr>
            </a:lvl1pPr>
            <a:lvl2pPr marL="228600" indent="0">
              <a:buNone/>
              <a:defRPr sz="1800">
                <a:solidFill>
                  <a:schemeClr val="bg1"/>
                </a:solidFill>
              </a:defRPr>
            </a:lvl2pPr>
            <a:lvl3pPr marL="457200" indent="0">
              <a:buNone/>
              <a:defRPr sz="1800">
                <a:solidFill>
                  <a:schemeClr val="bg1"/>
                </a:solidFill>
              </a:defRPr>
            </a:lvl3pPr>
            <a:lvl4pPr marL="661988" indent="0">
              <a:buNone/>
              <a:defRPr sz="1800">
                <a:solidFill>
                  <a:schemeClr val="bg1"/>
                </a:solidFill>
              </a:defRPr>
            </a:lvl4pPr>
            <a:lvl5pPr marL="855663" indent="0">
              <a:buNone/>
              <a:defRPr sz="1800">
                <a:solidFill>
                  <a:schemeClr val="bg1"/>
                </a:solidFill>
              </a:defRPr>
            </a:lvl5pPr>
          </a:lstStyle>
          <a:p>
            <a:pPr>
              <a:lnSpc>
                <a:spcPct val="100000"/>
              </a:lnSpc>
            </a:pPr>
            <a:r>
              <a:rPr lang="en-US" sz="1800" b="0" dirty="0">
                <a:solidFill>
                  <a:schemeClr val="bg1"/>
                </a:solidFill>
                <a:latin typeface="Segoe UI" panose="020B0502040204020203" pitchFamily="34" charset="0"/>
                <a:cs typeface="Segoe UI" panose="020B0502040204020203" pitchFamily="34" charset="0"/>
              </a:rPr>
              <a:t>Provide more context and a detailed overview of what the project goals are, what you have or hope to accomplish.</a:t>
            </a:r>
          </a:p>
          <a:p>
            <a:pPr>
              <a:lnSpc>
                <a:spcPct val="100000"/>
              </a:lnSpc>
            </a:pPr>
            <a:endParaRPr lang="en-US" sz="1800" b="0" dirty="0">
              <a:solidFill>
                <a:schemeClr val="bg1"/>
              </a:solidFill>
              <a:latin typeface="Segoe UI" panose="020B0502040204020203" pitchFamily="34" charset="0"/>
              <a:cs typeface="Segoe UI" panose="020B0502040204020203" pitchFamily="34" charset="0"/>
            </a:endParaRPr>
          </a:p>
          <a:p>
            <a:pPr>
              <a:lnSpc>
                <a:spcPct val="100000"/>
              </a:lnSpc>
            </a:pPr>
            <a:r>
              <a:rPr lang="en-US" sz="1800" b="0" dirty="0">
                <a:solidFill>
                  <a:schemeClr val="bg1"/>
                </a:solidFill>
                <a:latin typeface="Segoe UI" panose="020B0502040204020203" pitchFamily="34" charset="0"/>
                <a:cs typeface="Segoe UI" panose="020B0502040204020203" pitchFamily="34" charset="0"/>
              </a:rPr>
              <a:t>This space accommodates multiple lines of text so there is enough room to give details.</a:t>
            </a:r>
          </a:p>
        </p:txBody>
      </p:sp>
      <p:sp>
        <p:nvSpPr>
          <p:cNvPr id="32" name="Text Placeholder 31">
            <a:extLst>
              <a:ext uri="{FF2B5EF4-FFF2-40B4-BE49-F238E27FC236}">
                <a16:creationId xmlns:a16="http://schemas.microsoft.com/office/drawing/2014/main" id="{A0CD7186-AF1B-F240-9FA1-9EE24D7F044C}"/>
              </a:ext>
            </a:extLst>
          </p:cNvPr>
          <p:cNvSpPr>
            <a:spLocks noGrp="1"/>
          </p:cNvSpPr>
          <p:nvPr>
            <p:ph type="body" sz="quarter" idx="11" hasCustomPrompt="1"/>
          </p:nvPr>
        </p:nvSpPr>
        <p:spPr>
          <a:xfrm>
            <a:off x="6240463" y="585788"/>
            <a:ext cx="1597025"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$2M</a:t>
            </a:r>
          </a:p>
        </p:txBody>
      </p:sp>
      <p:sp>
        <p:nvSpPr>
          <p:cNvPr id="33" name="Text Placeholder 31">
            <a:extLst>
              <a:ext uri="{FF2B5EF4-FFF2-40B4-BE49-F238E27FC236}">
                <a16:creationId xmlns:a16="http://schemas.microsoft.com/office/drawing/2014/main" id="{7587C738-B53A-F743-AF70-728C3FB00C7E}"/>
              </a:ext>
            </a:extLst>
          </p:cNvPr>
          <p:cNvSpPr>
            <a:spLocks noGrp="1"/>
          </p:cNvSpPr>
          <p:nvPr>
            <p:ph type="body" sz="quarter" idx="12" hasCustomPrompt="1"/>
          </p:nvPr>
        </p:nvSpPr>
        <p:spPr>
          <a:xfrm>
            <a:off x="8148638" y="585788"/>
            <a:ext cx="1560611"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70%</a:t>
            </a:r>
          </a:p>
        </p:txBody>
      </p:sp>
      <p:sp>
        <p:nvSpPr>
          <p:cNvPr id="34" name="Text Placeholder 31">
            <a:extLst>
              <a:ext uri="{FF2B5EF4-FFF2-40B4-BE49-F238E27FC236}">
                <a16:creationId xmlns:a16="http://schemas.microsoft.com/office/drawing/2014/main" id="{51CBA738-F416-D541-8E97-0F3A7416055D}"/>
              </a:ext>
            </a:extLst>
          </p:cNvPr>
          <p:cNvSpPr>
            <a:spLocks noGrp="1"/>
          </p:cNvSpPr>
          <p:nvPr>
            <p:ph type="body" sz="quarter" idx="13" hasCustomPrompt="1"/>
          </p:nvPr>
        </p:nvSpPr>
        <p:spPr>
          <a:xfrm>
            <a:off x="10013951" y="585788"/>
            <a:ext cx="1595438"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300</a:t>
            </a:r>
          </a:p>
        </p:txBody>
      </p:sp>
      <p:sp>
        <p:nvSpPr>
          <p:cNvPr id="36" name="Text Placeholder 35">
            <a:extLst>
              <a:ext uri="{FF2B5EF4-FFF2-40B4-BE49-F238E27FC236}">
                <a16:creationId xmlns:a16="http://schemas.microsoft.com/office/drawing/2014/main" id="{28B23554-69BF-764F-A44D-94C8151E6484}"/>
              </a:ext>
            </a:extLst>
          </p:cNvPr>
          <p:cNvSpPr>
            <a:spLocks noGrp="1"/>
          </p:cNvSpPr>
          <p:nvPr>
            <p:ph type="body" sz="quarter" idx="14" hasCustomPrompt="1"/>
          </p:nvPr>
        </p:nvSpPr>
        <p:spPr>
          <a:xfrm>
            <a:off x="6240463"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Financial</a:t>
            </a:r>
          </a:p>
          <a:p>
            <a:pPr lvl="0"/>
            <a:r>
              <a:rPr lang="en-US" dirty="0"/>
              <a:t>Value</a:t>
            </a:r>
          </a:p>
        </p:txBody>
      </p:sp>
      <p:sp>
        <p:nvSpPr>
          <p:cNvPr id="37" name="Text Placeholder 35">
            <a:extLst>
              <a:ext uri="{FF2B5EF4-FFF2-40B4-BE49-F238E27FC236}">
                <a16:creationId xmlns:a16="http://schemas.microsoft.com/office/drawing/2014/main" id="{F959484E-ADD1-F94C-8470-0C113E2E167A}"/>
              </a:ext>
            </a:extLst>
          </p:cNvPr>
          <p:cNvSpPr>
            <a:spLocks noGrp="1"/>
          </p:cNvSpPr>
          <p:nvPr>
            <p:ph type="body" sz="quarter" idx="15" hasCustomPrompt="1"/>
          </p:nvPr>
        </p:nvSpPr>
        <p:spPr>
          <a:xfrm>
            <a:off x="8148638"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Percentage</a:t>
            </a:r>
          </a:p>
          <a:p>
            <a:pPr lvl="0"/>
            <a:r>
              <a:rPr lang="en-US" dirty="0"/>
              <a:t>Value</a:t>
            </a:r>
          </a:p>
        </p:txBody>
      </p:sp>
      <p:sp>
        <p:nvSpPr>
          <p:cNvPr id="38" name="Text Placeholder 35">
            <a:extLst>
              <a:ext uri="{FF2B5EF4-FFF2-40B4-BE49-F238E27FC236}">
                <a16:creationId xmlns:a16="http://schemas.microsoft.com/office/drawing/2014/main" id="{3B6DEB9F-381E-D641-A8C9-29A7CC18D3E2}"/>
              </a:ext>
            </a:extLst>
          </p:cNvPr>
          <p:cNvSpPr>
            <a:spLocks noGrp="1"/>
          </p:cNvSpPr>
          <p:nvPr>
            <p:ph type="body" sz="quarter" idx="16" hasCustomPrompt="1"/>
          </p:nvPr>
        </p:nvSpPr>
        <p:spPr>
          <a:xfrm>
            <a:off x="10013950" y="1233489"/>
            <a:ext cx="1595438"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Additional</a:t>
            </a:r>
          </a:p>
          <a:p>
            <a:pPr lvl="0"/>
            <a:r>
              <a:rPr lang="en-US" dirty="0"/>
              <a:t>Value</a:t>
            </a:r>
          </a:p>
        </p:txBody>
      </p:sp>
      <p:sp>
        <p:nvSpPr>
          <p:cNvPr id="40" name="Text Placeholder 39">
            <a:extLst>
              <a:ext uri="{FF2B5EF4-FFF2-40B4-BE49-F238E27FC236}">
                <a16:creationId xmlns:a16="http://schemas.microsoft.com/office/drawing/2014/main" id="{F5A202A1-4A1F-5843-BD54-EC098D909269}"/>
              </a:ext>
            </a:extLst>
          </p:cNvPr>
          <p:cNvSpPr>
            <a:spLocks noGrp="1"/>
          </p:cNvSpPr>
          <p:nvPr>
            <p:ph type="body" sz="quarter" idx="17" hasCustomPrompt="1"/>
          </p:nvPr>
        </p:nvSpPr>
        <p:spPr>
          <a:xfrm>
            <a:off x="6240463" y="2017713"/>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dirty="0"/>
              <a:t>Project goals</a:t>
            </a:r>
          </a:p>
        </p:txBody>
      </p:sp>
      <p:sp>
        <p:nvSpPr>
          <p:cNvPr id="42" name="Text Placeholder 41">
            <a:extLst>
              <a:ext uri="{FF2B5EF4-FFF2-40B4-BE49-F238E27FC236}">
                <a16:creationId xmlns:a16="http://schemas.microsoft.com/office/drawing/2014/main" id="{9E4D6518-F39B-D540-BBC8-F615FE1B6AF1}"/>
              </a:ext>
            </a:extLst>
          </p:cNvPr>
          <p:cNvSpPr>
            <a:spLocks noGrp="1"/>
          </p:cNvSpPr>
          <p:nvPr>
            <p:ph type="body" sz="quarter" idx="18" hasCustomPrompt="1"/>
          </p:nvPr>
        </p:nvSpPr>
        <p:spPr>
          <a:xfrm>
            <a:off x="6240463" y="2977115"/>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dirty="0"/>
              <a:t>Descriptive text</a:t>
            </a:r>
          </a:p>
        </p:txBody>
      </p:sp>
      <p:sp>
        <p:nvSpPr>
          <p:cNvPr id="43" name="Text Placeholder 39">
            <a:extLst>
              <a:ext uri="{FF2B5EF4-FFF2-40B4-BE49-F238E27FC236}">
                <a16:creationId xmlns:a16="http://schemas.microsoft.com/office/drawing/2014/main" id="{BFD70A96-999C-1A46-83A7-D06801F55DB7}"/>
              </a:ext>
            </a:extLst>
          </p:cNvPr>
          <p:cNvSpPr>
            <a:spLocks noGrp="1"/>
          </p:cNvSpPr>
          <p:nvPr>
            <p:ph type="body" sz="quarter" idx="19" hasCustomPrompt="1"/>
          </p:nvPr>
        </p:nvSpPr>
        <p:spPr>
          <a:xfrm>
            <a:off x="6240463" y="4161319"/>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dirty="0"/>
              <a:t>Project goals</a:t>
            </a:r>
          </a:p>
        </p:txBody>
      </p:sp>
      <p:sp>
        <p:nvSpPr>
          <p:cNvPr id="44" name="Text Placeholder 41">
            <a:extLst>
              <a:ext uri="{FF2B5EF4-FFF2-40B4-BE49-F238E27FC236}">
                <a16:creationId xmlns:a16="http://schemas.microsoft.com/office/drawing/2014/main" id="{F57534EE-A31A-3942-81EF-7420176EDD7B}"/>
              </a:ext>
            </a:extLst>
          </p:cNvPr>
          <p:cNvSpPr>
            <a:spLocks noGrp="1"/>
          </p:cNvSpPr>
          <p:nvPr>
            <p:ph type="body" sz="quarter" idx="20" hasCustomPrompt="1"/>
          </p:nvPr>
        </p:nvSpPr>
        <p:spPr>
          <a:xfrm>
            <a:off x="6240463" y="5120721"/>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dirty="0"/>
              <a:t>Descriptive text</a:t>
            </a:r>
          </a:p>
        </p:txBody>
      </p:sp>
    </p:spTree>
    <p:extLst>
      <p:ext uri="{BB962C8B-B14F-4D97-AF65-F5344CB8AC3E}">
        <p14:creationId xmlns:p14="http://schemas.microsoft.com/office/powerpoint/2010/main" val="3455035362"/>
      </p:ext>
    </p:extLst>
  </p:cSld>
  <p:clrMapOvr>
    <a:masterClrMapping/>
  </p:clrMapOvr>
  <p:transition>
    <p:fade/>
  </p:transition>
  <p:extLst>
    <p:ext uri="{DCECCB84-F9BA-43D5-87BE-67443E8EF086}">
      <p15:sldGuideLst xmlns:p15="http://schemas.microsoft.com/office/powerpoint/2012/main">
        <p15:guide id="16" pos="3754" userDrawn="1">
          <p15:clr>
            <a:srgbClr val="A4A3A4"/>
          </p15:clr>
        </p15:guide>
        <p15:guide id="17" pos="3931" userDrawn="1">
          <p15:clr>
            <a:srgbClr val="A4A3A4"/>
          </p15:clr>
        </p15:guide>
        <p15:guide id="20" pos="4937">
          <p15:clr>
            <a:srgbClr val="A4A3A4"/>
          </p15:clr>
        </p15:guide>
        <p15:guide id="21" pos="5133" userDrawn="1">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777" userDrawn="1">
          <p15:clr>
            <a:srgbClr val="FBAE40"/>
          </p15:clr>
        </p15:guide>
        <p15:guide id="32" orient="horz" pos="1162"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4065589"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4" y="585788"/>
            <a:ext cx="2824862" cy="850900"/>
          </a:xfrm>
        </p:spPr>
        <p:txBody>
          <a:bodyPr anchor="t">
            <a:noAutofit/>
          </a:bodyPr>
          <a:lstStyle>
            <a:lvl1pPr>
              <a:defRPr>
                <a:solidFill>
                  <a:schemeClr val="accent3"/>
                </a:solidFill>
              </a:defRPr>
            </a:lvl1pPr>
          </a:lstStyle>
          <a:p>
            <a:r>
              <a:rPr lang="en-US" dirty="0"/>
              <a:t>Hello</a:t>
            </a:r>
          </a:p>
        </p:txBody>
      </p:sp>
      <p:sp>
        <p:nvSpPr>
          <p:cNvPr id="25" name="Text Placeholder 24">
            <a:extLst>
              <a:ext uri="{FF2B5EF4-FFF2-40B4-BE49-F238E27FC236}">
                <a16:creationId xmlns:a16="http://schemas.microsoft.com/office/drawing/2014/main" id="{687B7084-FB17-304C-A2D7-1145E7FE9D5A}"/>
              </a:ext>
            </a:extLst>
          </p:cNvPr>
          <p:cNvSpPr>
            <a:spLocks noGrp="1"/>
          </p:cNvSpPr>
          <p:nvPr>
            <p:ph type="body" sz="quarter" idx="11" hasCustomPrompt="1"/>
          </p:nvPr>
        </p:nvSpPr>
        <p:spPr>
          <a:xfrm>
            <a:off x="7192963" y="1437685"/>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27" name="Text Placeholder 26">
            <a:extLst>
              <a:ext uri="{FF2B5EF4-FFF2-40B4-BE49-F238E27FC236}">
                <a16:creationId xmlns:a16="http://schemas.microsoft.com/office/drawing/2014/main" id="{0B58D5F9-9ECC-AE4D-AEE6-08C911DE2503}"/>
              </a:ext>
            </a:extLst>
          </p:cNvPr>
          <p:cNvSpPr>
            <a:spLocks noGrp="1"/>
          </p:cNvSpPr>
          <p:nvPr>
            <p:ph type="body" sz="quarter" idx="12" hasCustomPrompt="1"/>
          </p:nvPr>
        </p:nvSpPr>
        <p:spPr>
          <a:xfrm>
            <a:off x="7192963" y="1802269"/>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29" name="Text Placeholder 28">
            <a:extLst>
              <a:ext uri="{FF2B5EF4-FFF2-40B4-BE49-F238E27FC236}">
                <a16:creationId xmlns:a16="http://schemas.microsoft.com/office/drawing/2014/main" id="{688E32A6-35BF-E143-8E34-3EF1E3F217EA}"/>
              </a:ext>
            </a:extLst>
          </p:cNvPr>
          <p:cNvSpPr>
            <a:spLocks noGrp="1"/>
          </p:cNvSpPr>
          <p:nvPr>
            <p:ph type="body" sz="quarter" idx="13" hasCustomPrompt="1"/>
          </p:nvPr>
        </p:nvSpPr>
        <p:spPr>
          <a:xfrm>
            <a:off x="7192963" y="2200939"/>
            <a:ext cx="3835399" cy="1150185"/>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quis</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nostrud</a:t>
            </a:r>
            <a:r>
              <a:rPr lang="en-US" sz="1200" b="0" dirty="0">
                <a:solidFill>
                  <a:srgbClr val="505050"/>
                </a:solidFill>
                <a:latin typeface="Segoe UI" panose="020B0502040204020203" pitchFamily="34" charset="0"/>
                <a:cs typeface="Segoe UI" panose="020B0502040204020203" pitchFamily="34" charset="0"/>
              </a:rPr>
              <a:t> exercitation </a:t>
            </a:r>
            <a:r>
              <a:rPr lang="en-US" sz="1200" b="0" dirty="0" err="1">
                <a:solidFill>
                  <a:srgbClr val="505050"/>
                </a:solidFill>
                <a:latin typeface="Segoe UI" panose="020B0502040204020203" pitchFamily="34" charset="0"/>
                <a:cs typeface="Segoe UI" panose="020B0502040204020203" pitchFamily="34" charset="0"/>
              </a:rPr>
              <a:t>ullamco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laboris</a:t>
            </a:r>
            <a:r>
              <a:rPr lang="en-US" sz="1200" b="0" dirty="0">
                <a:solidFill>
                  <a:srgbClr val="505050"/>
                </a:solidFill>
                <a:latin typeface="Segoe UI" panose="020B0502040204020203" pitchFamily="34" charset="0"/>
                <a:cs typeface="Segoe UI" panose="020B0502040204020203" pitchFamily="34" charset="0"/>
              </a:rPr>
              <a:t> nisi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aliquip</a:t>
            </a:r>
            <a:r>
              <a:rPr lang="en-US" sz="1200" b="0" dirty="0">
                <a:solidFill>
                  <a:srgbClr val="505050"/>
                </a:solidFill>
                <a:latin typeface="Segoe UI" panose="020B0502040204020203" pitchFamily="34" charset="0"/>
                <a:cs typeface="Segoe UI" panose="020B0502040204020203" pitchFamily="34" charset="0"/>
              </a:rPr>
              <a:t> ex </a:t>
            </a:r>
            <a:r>
              <a:rPr lang="en-US" sz="1200" b="0" dirty="0" err="1">
                <a:solidFill>
                  <a:srgbClr val="505050"/>
                </a:solidFill>
                <a:latin typeface="Segoe UI" panose="020B0502040204020203" pitchFamily="34" charset="0"/>
                <a:cs typeface="Segoe UI" panose="020B0502040204020203" pitchFamily="34" charset="0"/>
              </a:rPr>
              <a:t>ea</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commodo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consequat</a:t>
            </a:r>
            <a:r>
              <a:rPr lang="en-US" sz="1200" b="0" dirty="0">
                <a:solidFill>
                  <a:srgbClr val="505050"/>
                </a:solidFill>
                <a:latin typeface="Segoe UI" panose="020B0502040204020203" pitchFamily="34" charset="0"/>
                <a:cs typeface="Segoe UI" panose="020B0502040204020203" pitchFamily="34" charset="0"/>
              </a:rPr>
              <a:t>. </a:t>
            </a:r>
          </a:p>
        </p:txBody>
      </p:sp>
      <p:sp>
        <p:nvSpPr>
          <p:cNvPr id="30" name="Text Placeholder 24">
            <a:extLst>
              <a:ext uri="{FF2B5EF4-FFF2-40B4-BE49-F238E27FC236}">
                <a16:creationId xmlns:a16="http://schemas.microsoft.com/office/drawing/2014/main" id="{0B57611E-E7C7-324D-8BF8-320980FF4F27}"/>
              </a:ext>
            </a:extLst>
          </p:cNvPr>
          <p:cNvSpPr>
            <a:spLocks noGrp="1"/>
          </p:cNvSpPr>
          <p:nvPr>
            <p:ph type="body" sz="quarter" idx="14" hasCustomPrompt="1"/>
          </p:nvPr>
        </p:nvSpPr>
        <p:spPr>
          <a:xfrm>
            <a:off x="7192963" y="4292600"/>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31" name="Text Placeholder 26">
            <a:extLst>
              <a:ext uri="{FF2B5EF4-FFF2-40B4-BE49-F238E27FC236}">
                <a16:creationId xmlns:a16="http://schemas.microsoft.com/office/drawing/2014/main" id="{3340D410-0B5B-4B4B-AEA6-2655A1EB04FD}"/>
              </a:ext>
            </a:extLst>
          </p:cNvPr>
          <p:cNvSpPr>
            <a:spLocks noGrp="1"/>
          </p:cNvSpPr>
          <p:nvPr>
            <p:ph type="body" sz="quarter" idx="15" hasCustomPrompt="1"/>
          </p:nvPr>
        </p:nvSpPr>
        <p:spPr>
          <a:xfrm>
            <a:off x="7192963" y="4657184"/>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32" name="Text Placeholder 28">
            <a:extLst>
              <a:ext uri="{FF2B5EF4-FFF2-40B4-BE49-F238E27FC236}">
                <a16:creationId xmlns:a16="http://schemas.microsoft.com/office/drawing/2014/main" id="{BD35ACAE-2494-4842-AAF6-13BCA3369290}"/>
              </a:ext>
            </a:extLst>
          </p:cNvPr>
          <p:cNvSpPr>
            <a:spLocks noGrp="1"/>
          </p:cNvSpPr>
          <p:nvPr>
            <p:ph type="body" sz="quarter" idx="16" hasCustomPrompt="1"/>
          </p:nvPr>
        </p:nvSpPr>
        <p:spPr>
          <a:xfrm>
            <a:off x="7192963" y="5055854"/>
            <a:ext cx="3835400" cy="1213183"/>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quis</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nostrud</a:t>
            </a:r>
            <a:r>
              <a:rPr lang="en-US" sz="1200" b="0" dirty="0">
                <a:solidFill>
                  <a:srgbClr val="505050"/>
                </a:solidFill>
                <a:latin typeface="Segoe UI" panose="020B0502040204020203" pitchFamily="34" charset="0"/>
                <a:cs typeface="Segoe UI" panose="020B0502040204020203" pitchFamily="34" charset="0"/>
              </a:rPr>
              <a:t> exercitation </a:t>
            </a:r>
            <a:r>
              <a:rPr lang="en-US" sz="1200" b="0" dirty="0" err="1">
                <a:solidFill>
                  <a:srgbClr val="505050"/>
                </a:solidFill>
                <a:latin typeface="Segoe UI" panose="020B0502040204020203" pitchFamily="34" charset="0"/>
                <a:cs typeface="Segoe UI" panose="020B0502040204020203" pitchFamily="34" charset="0"/>
              </a:rPr>
              <a:t>ullamco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laboris</a:t>
            </a:r>
            <a:r>
              <a:rPr lang="en-US" sz="1200" b="0" dirty="0">
                <a:solidFill>
                  <a:srgbClr val="505050"/>
                </a:solidFill>
                <a:latin typeface="Segoe UI" panose="020B0502040204020203" pitchFamily="34" charset="0"/>
                <a:cs typeface="Segoe UI" panose="020B0502040204020203" pitchFamily="34" charset="0"/>
              </a:rPr>
              <a:t> nisi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aliquip</a:t>
            </a:r>
            <a:r>
              <a:rPr lang="en-US" sz="1200" b="0" dirty="0">
                <a:solidFill>
                  <a:srgbClr val="505050"/>
                </a:solidFill>
                <a:latin typeface="Segoe UI" panose="020B0502040204020203" pitchFamily="34" charset="0"/>
                <a:cs typeface="Segoe UI" panose="020B0502040204020203" pitchFamily="34" charset="0"/>
              </a:rPr>
              <a:t> ex </a:t>
            </a:r>
            <a:r>
              <a:rPr lang="en-US" sz="1200" b="0" dirty="0" err="1">
                <a:solidFill>
                  <a:srgbClr val="505050"/>
                </a:solidFill>
                <a:latin typeface="Segoe UI" panose="020B0502040204020203" pitchFamily="34" charset="0"/>
                <a:cs typeface="Segoe UI" panose="020B0502040204020203" pitchFamily="34" charset="0"/>
              </a:rPr>
              <a:t>ea</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commodo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consequat</a:t>
            </a:r>
            <a:r>
              <a:rPr lang="en-US" sz="1200" b="0" dirty="0">
                <a:solidFill>
                  <a:srgbClr val="505050"/>
                </a:solidFill>
                <a:latin typeface="Segoe UI" panose="020B0502040204020203" pitchFamily="34" charset="0"/>
                <a:cs typeface="Segoe UI" panose="020B0502040204020203" pitchFamily="34" charset="0"/>
              </a:rPr>
              <a:t>. </a:t>
            </a:r>
          </a:p>
        </p:txBody>
      </p:sp>
      <p:sp>
        <p:nvSpPr>
          <p:cNvPr id="40" name="Picture Placeholder 39">
            <a:extLst>
              <a:ext uri="{FF2B5EF4-FFF2-40B4-BE49-F238E27FC236}">
                <a16:creationId xmlns:a16="http://schemas.microsoft.com/office/drawing/2014/main" id="{BA73218E-471B-984D-AF23-10EDB19E9A7F}"/>
              </a:ext>
            </a:extLst>
          </p:cNvPr>
          <p:cNvSpPr>
            <a:spLocks noGrp="1"/>
          </p:cNvSpPr>
          <p:nvPr>
            <p:ph type="pic" sz="quarter" idx="17"/>
          </p:nvPr>
        </p:nvSpPr>
        <p:spPr>
          <a:xfrm>
            <a:off x="5314950" y="1436687"/>
            <a:ext cx="1576800" cy="1576800"/>
          </a:xfrm>
          <a:prstGeom prst="ellipse">
            <a:avLst/>
          </a:prstGeom>
        </p:spPr>
        <p:txBody>
          <a:bodyPr/>
          <a:lstStyle>
            <a:lvl1pPr>
              <a:defRPr sz="1000"/>
            </a:lvl1pPr>
          </a:lstStyle>
          <a:p>
            <a:r>
              <a:rPr lang="en-US"/>
              <a:t>Click icon to add picture</a:t>
            </a:r>
            <a:endParaRPr lang="en-US" dirty="0"/>
          </a:p>
        </p:txBody>
      </p:sp>
      <p:sp>
        <p:nvSpPr>
          <p:cNvPr id="41" name="Picture Placeholder 39">
            <a:extLst>
              <a:ext uri="{FF2B5EF4-FFF2-40B4-BE49-F238E27FC236}">
                <a16:creationId xmlns:a16="http://schemas.microsoft.com/office/drawing/2014/main" id="{0DF309B0-7379-4C44-A541-B4343B549DC2}"/>
              </a:ext>
            </a:extLst>
          </p:cNvPr>
          <p:cNvSpPr>
            <a:spLocks noGrp="1"/>
          </p:cNvSpPr>
          <p:nvPr>
            <p:ph type="pic" sz="quarter" idx="18"/>
          </p:nvPr>
        </p:nvSpPr>
        <p:spPr>
          <a:xfrm>
            <a:off x="5314950" y="4293096"/>
            <a:ext cx="1576800" cy="1576800"/>
          </a:xfrm>
          <a:prstGeom prst="ellipse">
            <a:avLst/>
          </a:prstGeom>
        </p:spPr>
        <p:txBody>
          <a:bodyPr/>
          <a:lstStyle>
            <a:lvl1pPr>
              <a:defRPr sz="1000"/>
            </a:lvl1pPr>
          </a:lstStyle>
          <a:p>
            <a:r>
              <a:rPr lang="en-US"/>
              <a:t>Click icon to add picture</a:t>
            </a:r>
            <a:endParaRPr lang="en-US" dirty="0"/>
          </a:p>
        </p:txBody>
      </p:sp>
    </p:spTree>
    <p:extLst>
      <p:ext uri="{BB962C8B-B14F-4D97-AF65-F5344CB8AC3E}">
        <p14:creationId xmlns:p14="http://schemas.microsoft.com/office/powerpoint/2010/main" val="835566677"/>
      </p:ext>
    </p:extLst>
  </p:cSld>
  <p:clrMapOvr>
    <a:masterClrMapping/>
  </p:clrMapOvr>
  <p:transition>
    <p:fade/>
  </p:transition>
  <p:extLst>
    <p:ext uri="{DCECCB84-F9BA-43D5-87BE-67443E8EF086}">
      <p15:sldGuideLst xmlns:p15="http://schemas.microsoft.com/office/powerpoint/2012/main">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guide id="31" orient="horz" pos="2704" userDrawn="1">
          <p15:clr>
            <a:srgbClr val="5ACBF0"/>
          </p15:clr>
        </p15:guide>
        <p15:guide id="32" pos="6947"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4-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F020-426C-5E40-B5A3-0630A950B07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solidFill>
                  <a:schemeClr val="accent3"/>
                </a:solidFill>
              </a:defRPr>
            </a:lvl1pPr>
          </a:lstStyle>
          <a:p>
            <a:r>
              <a:rPr lang="en-US" dirty="0"/>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p:cNvSpPr>
          <p:nvPr>
            <p:ph type="pic" sz="quarter" idx="23"/>
          </p:nvPr>
        </p:nvSpPr>
        <p:spPr>
          <a:xfrm>
            <a:off x="774200" y="1785409"/>
            <a:ext cx="2160000" cy="2160000"/>
          </a:xfrm>
          <a:prstGeom prst="ellipse">
            <a:avLst/>
          </a:prstGeom>
          <a:ln>
            <a:noFill/>
          </a:ln>
        </p:spPr>
        <p:txBody>
          <a:bodyPr/>
          <a:lstStyle/>
          <a:p>
            <a:r>
              <a:rPr lang="en-US"/>
              <a:t>Click icon to add picture</a:t>
            </a:r>
            <a:endParaRPr lang="en-US" dirty="0"/>
          </a:p>
        </p:txBody>
      </p:sp>
      <p:sp>
        <p:nvSpPr>
          <p:cNvPr id="26" name="Picture Placeholder 16">
            <a:extLst>
              <a:ext uri="{FF2B5EF4-FFF2-40B4-BE49-F238E27FC236}">
                <a16:creationId xmlns:a16="http://schemas.microsoft.com/office/drawing/2014/main" id="{7216C99D-59E0-D148-8FD5-A06B5D098A96}"/>
              </a:ext>
            </a:extLst>
          </p:cNvPr>
          <p:cNvSpPr>
            <a:spLocks noGrp="1"/>
          </p:cNvSpPr>
          <p:nvPr>
            <p:ph type="pic" sz="quarter" idx="24"/>
          </p:nvPr>
        </p:nvSpPr>
        <p:spPr>
          <a:xfrm>
            <a:off x="3603125" y="1785409"/>
            <a:ext cx="2160000" cy="2160000"/>
          </a:xfrm>
          <a:prstGeom prst="ellipse">
            <a:avLst/>
          </a:prstGeom>
          <a:ln>
            <a:noFill/>
          </a:ln>
        </p:spPr>
        <p:txBody>
          <a:bodyPr/>
          <a:lstStyle/>
          <a:p>
            <a:r>
              <a:rPr lang="en-US"/>
              <a:t>Click icon to add picture</a:t>
            </a:r>
            <a:endParaRPr lang="en-US" dirty="0"/>
          </a:p>
        </p:txBody>
      </p:sp>
      <p:sp>
        <p:nvSpPr>
          <p:cNvPr id="28" name="Picture Placeholder 16">
            <a:extLst>
              <a:ext uri="{FF2B5EF4-FFF2-40B4-BE49-F238E27FC236}">
                <a16:creationId xmlns:a16="http://schemas.microsoft.com/office/drawing/2014/main" id="{D4B99A33-76D9-4843-8919-AD5FEF9A31F2}"/>
              </a:ext>
            </a:extLst>
          </p:cNvPr>
          <p:cNvSpPr>
            <a:spLocks noGrp="1"/>
          </p:cNvSpPr>
          <p:nvPr>
            <p:ph type="pic" sz="quarter" idx="25"/>
          </p:nvPr>
        </p:nvSpPr>
        <p:spPr>
          <a:xfrm>
            <a:off x="6428875" y="1785409"/>
            <a:ext cx="2160000" cy="2160000"/>
          </a:xfrm>
          <a:prstGeom prst="ellipse">
            <a:avLst/>
          </a:prstGeom>
          <a:ln>
            <a:noFill/>
          </a:ln>
        </p:spPr>
        <p:txBody>
          <a:bodyPr/>
          <a:lstStyle/>
          <a:p>
            <a:r>
              <a:rPr lang="en-US"/>
              <a:t>Click icon to add picture</a:t>
            </a:r>
            <a:endParaRPr lang="en-US" dirty="0"/>
          </a:p>
        </p:txBody>
      </p:sp>
      <p:sp>
        <p:nvSpPr>
          <p:cNvPr id="30" name="Picture Placeholder 16">
            <a:extLst>
              <a:ext uri="{FF2B5EF4-FFF2-40B4-BE49-F238E27FC236}">
                <a16:creationId xmlns:a16="http://schemas.microsoft.com/office/drawing/2014/main" id="{961589AC-2E68-5C4F-BF84-D883C8663119}"/>
              </a:ext>
            </a:extLst>
          </p:cNvPr>
          <p:cNvSpPr>
            <a:spLocks noGrp="1"/>
          </p:cNvSpPr>
          <p:nvPr>
            <p:ph type="pic" sz="quarter" idx="26"/>
          </p:nvPr>
        </p:nvSpPr>
        <p:spPr>
          <a:xfrm>
            <a:off x="9260975" y="1785409"/>
            <a:ext cx="2160000" cy="2160000"/>
          </a:xfrm>
          <a:prstGeom prst="ellipse">
            <a:avLst/>
          </a:prstGeom>
          <a:ln>
            <a:noFill/>
          </a:ln>
        </p:spPr>
        <p:txBody>
          <a:bodyPr/>
          <a:lstStyle/>
          <a:p>
            <a:r>
              <a:rPr lang="en-US"/>
              <a:t>Click icon to add picture</a:t>
            </a:r>
            <a:endParaRPr lang="en-US" dirty="0"/>
          </a:p>
        </p:txBody>
      </p:sp>
    </p:spTree>
    <p:extLst>
      <p:ext uri="{BB962C8B-B14F-4D97-AF65-F5344CB8AC3E}">
        <p14:creationId xmlns:p14="http://schemas.microsoft.com/office/powerpoint/2010/main" val="648551354"/>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rofile Slid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accent3"/>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err="1"/>
              <a:t>Firstname</a:t>
            </a:r>
            <a:r>
              <a:rPr lang="en-US" dirty="0"/>
              <a:t> </a:t>
            </a:r>
            <a:r>
              <a:rPr lang="en-US" dirty="0" err="1"/>
              <a:t>Lastname</a:t>
            </a:r>
            <a:endParaRPr lang="en-US" dirty="0"/>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tx1"/>
                </a:solidFill>
              </a:defRPr>
            </a:lvl1pPr>
          </a:lstStyle>
          <a:p>
            <a:pPr lvl="0"/>
            <a:r>
              <a:rPr lang="en-US" dirty="0"/>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tx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tx1"/>
                </a:solidFill>
                <a:latin typeface="+mj-lt"/>
              </a:defRPr>
            </a:lvl1pPr>
          </a:lstStyle>
          <a:p>
            <a:pPr lvl="0"/>
            <a:r>
              <a:rPr lang="en-US" dirty="0"/>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tx1"/>
                </a:solidFill>
                <a:latin typeface="+mj-lt"/>
              </a:defRPr>
            </a:lvl1pPr>
          </a:lstStyle>
          <a:p>
            <a:pPr lvl="0"/>
            <a:r>
              <a:rPr lang="en-US" dirty="0"/>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tx1"/>
                </a:solidFill>
              </a:defRPr>
            </a:lvl1pPr>
          </a:lstStyle>
          <a:p>
            <a:pPr lvl="0"/>
            <a:r>
              <a:rPr lang="en-US" dirty="0"/>
              <a:t>One</a:t>
            </a:r>
          </a:p>
          <a:p>
            <a:pPr lvl="0"/>
            <a:r>
              <a:rPr lang="en-US" dirty="0"/>
              <a:t>Two</a:t>
            </a:r>
          </a:p>
          <a:p>
            <a:pPr lvl="0"/>
            <a:r>
              <a:rPr lang="en-US" dirty="0"/>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tx1"/>
                </a:solidFill>
              </a:defRPr>
            </a:lvl1pPr>
          </a:lstStyle>
          <a:p>
            <a:pPr lvl="0"/>
            <a:r>
              <a:rPr lang="en-US" dirty="0"/>
              <a:t>Four</a:t>
            </a:r>
          </a:p>
          <a:p>
            <a:pPr lvl="0"/>
            <a:r>
              <a:rPr lang="en-US" dirty="0"/>
              <a:t>Five</a:t>
            </a:r>
          </a:p>
          <a:p>
            <a:pPr lvl="0"/>
            <a:r>
              <a:rPr lang="en-US" dirty="0"/>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tx1"/>
                </a:solidFill>
              </a:defRPr>
            </a:lvl1pPr>
          </a:lstStyle>
          <a:p>
            <a:pPr lvl="0"/>
            <a:r>
              <a:rPr lang="en-US" dirty="0"/>
              <a:t>Seven</a:t>
            </a:r>
          </a:p>
          <a:p>
            <a:pPr lvl="0"/>
            <a:r>
              <a:rPr lang="en-US" dirty="0"/>
              <a:t>Eight</a:t>
            </a:r>
          </a:p>
          <a:p>
            <a:pPr lvl="0"/>
            <a:r>
              <a:rPr lang="en-US" dirty="0"/>
              <a:t>Nine</a:t>
            </a:r>
          </a:p>
        </p:txBody>
      </p:sp>
    </p:spTree>
    <p:extLst>
      <p:ext uri="{BB962C8B-B14F-4D97-AF65-F5344CB8AC3E}">
        <p14:creationId xmlns:p14="http://schemas.microsoft.com/office/powerpoint/2010/main" val="15621394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Profile Slide 2">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tx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err="1"/>
              <a:t>Firstname</a:t>
            </a:r>
            <a:r>
              <a:rPr lang="en-US" dirty="0"/>
              <a:t> </a:t>
            </a:r>
            <a:r>
              <a:rPr lang="en-US" dirty="0" err="1"/>
              <a:t>Lastname</a:t>
            </a:r>
            <a:endParaRPr lang="en-US" dirty="0"/>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accent6"/>
                </a:solidFill>
              </a:defRPr>
            </a:lvl1pPr>
          </a:lstStyle>
          <a:p>
            <a:pPr lvl="0"/>
            <a:r>
              <a:rPr lang="en-US" dirty="0"/>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accent6"/>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accent6"/>
                </a:solidFill>
                <a:latin typeface="+mj-lt"/>
              </a:defRPr>
            </a:lvl1pPr>
          </a:lstStyle>
          <a:p>
            <a:pPr lvl="0"/>
            <a:r>
              <a:rPr lang="en-US" dirty="0"/>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accent6"/>
                </a:solidFill>
                <a:latin typeface="+mj-lt"/>
              </a:defRPr>
            </a:lvl1pPr>
          </a:lstStyle>
          <a:p>
            <a:pPr lvl="0"/>
            <a:r>
              <a:rPr lang="en-US" dirty="0"/>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accent6"/>
                </a:solidFill>
              </a:defRPr>
            </a:lvl1pPr>
          </a:lstStyle>
          <a:p>
            <a:pPr lvl="0"/>
            <a:r>
              <a:rPr lang="en-US" dirty="0"/>
              <a:t>One</a:t>
            </a:r>
          </a:p>
          <a:p>
            <a:pPr lvl="0"/>
            <a:r>
              <a:rPr lang="en-US" dirty="0"/>
              <a:t>Two</a:t>
            </a:r>
          </a:p>
          <a:p>
            <a:pPr lvl="0"/>
            <a:r>
              <a:rPr lang="en-US" dirty="0"/>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accent6"/>
                </a:solidFill>
              </a:defRPr>
            </a:lvl1pPr>
          </a:lstStyle>
          <a:p>
            <a:pPr lvl="0"/>
            <a:r>
              <a:rPr lang="en-US" dirty="0"/>
              <a:t>Four</a:t>
            </a:r>
          </a:p>
          <a:p>
            <a:pPr lvl="0"/>
            <a:r>
              <a:rPr lang="en-US" dirty="0"/>
              <a:t>Five</a:t>
            </a:r>
          </a:p>
          <a:p>
            <a:pPr lvl="0"/>
            <a:r>
              <a:rPr lang="en-US" dirty="0"/>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accent6"/>
                </a:solidFill>
              </a:defRPr>
            </a:lvl1pPr>
          </a:lstStyle>
          <a:p>
            <a:pPr lvl="0"/>
            <a:r>
              <a:rPr lang="en-US" dirty="0"/>
              <a:t>Seven</a:t>
            </a:r>
          </a:p>
          <a:p>
            <a:pPr lvl="0"/>
            <a:r>
              <a:rPr lang="en-US" dirty="0"/>
              <a:t>Eight</a:t>
            </a:r>
          </a:p>
          <a:p>
            <a:pPr lvl="0"/>
            <a:r>
              <a:rPr lang="en-US" dirty="0"/>
              <a:t>Nine</a:t>
            </a:r>
          </a:p>
        </p:txBody>
      </p:sp>
    </p:spTree>
    <p:extLst>
      <p:ext uri="{BB962C8B-B14F-4D97-AF65-F5344CB8AC3E}">
        <p14:creationId xmlns:p14="http://schemas.microsoft.com/office/powerpoint/2010/main" val="38011785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Large Number Divider 1">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tx1"/>
                </a:solidFill>
                <a:latin typeface="+mj-lt"/>
              </a:defRPr>
            </a:lvl1pPr>
          </a:lstStyle>
          <a:p>
            <a:pPr lvl="0"/>
            <a:r>
              <a:rPr lang="en-US" dirty="0"/>
              <a:t>Section 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1</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Tree>
    <p:extLst>
      <p:ext uri="{BB962C8B-B14F-4D97-AF65-F5344CB8AC3E}">
        <p14:creationId xmlns:p14="http://schemas.microsoft.com/office/powerpoint/2010/main" val="30921821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E8663993-2CF4-0843-9834-2078442DBA7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90063326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25F75097-07A2-DA4F-AFC5-71B04739FCB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6847385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96CEF9B0-0F7A-414C-9382-56532822A96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5503519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0B03ADF2-CBA0-AB48-AC2A-77EAF2C81AA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7724713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5_Large Number Divider 1">
    <p:bg>
      <p:bgRef idx="1001">
        <a:schemeClr val="bg2"/>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1</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9" name="Title 1">
            <a:extLst>
              <a:ext uri="{FF2B5EF4-FFF2-40B4-BE49-F238E27FC236}">
                <a16:creationId xmlns:a16="http://schemas.microsoft.com/office/drawing/2014/main" id="{939C9626-6AB7-9442-8C32-698E08BC85A7}"/>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7445959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6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649666AF-1BFD-C547-B312-5E30EBC9B839}"/>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4722831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7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443D24FC-F71D-C245-A2DA-55D32F6AA87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57784161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8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DA3A573E-5425-E24C-AC5B-D2C67E89FC53}"/>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6422873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9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AD9EEC05-DC95-844E-868F-EEEB231AD96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58932719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0080298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endParaRPr lang="en-US" dirty="0"/>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2438410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9785341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endParaRPr lang="en-US" dirty="0"/>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16566852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dirty="0"/>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1206398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dirty="0"/>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3450951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15770881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ection Divi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25625778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Section Divider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749752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dirty="0"/>
              <a:t>Section Name</a:t>
            </a:r>
          </a:p>
        </p:txBody>
      </p:sp>
    </p:spTree>
    <p:extLst>
      <p:ext uri="{BB962C8B-B14F-4D97-AF65-F5344CB8AC3E}">
        <p14:creationId xmlns:p14="http://schemas.microsoft.com/office/powerpoint/2010/main" val="11667776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dirty="0"/>
              <a:t>Section title with no subtitle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 with no subtitle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12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12 Column Dark Bkg">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Apendix Blue Bkg">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377B63-6619-6B40-8D85-1D972ED609B9}"/>
              </a:ext>
            </a:extLst>
          </p:cNvPr>
          <p:cNvSpPr>
            <a:spLocks noGrp="1"/>
          </p:cNvSpPr>
          <p:nvPr>
            <p:ph type="body" sz="quarter" idx="10" hasCustomPrompt="1"/>
          </p:nvPr>
        </p:nvSpPr>
        <p:spPr>
          <a:xfrm>
            <a:off x="584200" y="5715040"/>
            <a:ext cx="5367338" cy="553998"/>
          </a:xfrm>
        </p:spPr>
        <p:txBody>
          <a:bodyPr anchor="b"/>
          <a:lstStyle>
            <a:lvl1pPr marL="0" indent="0">
              <a:buNone/>
              <a:defRPr sz="3600">
                <a:latin typeface="+mj-lt"/>
              </a:defRPr>
            </a:lvl1pPr>
          </a:lstStyle>
          <a:p>
            <a:pPr lvl="0"/>
            <a:r>
              <a:rPr lang="en-US" dirty="0"/>
              <a:t>Appendix</a:t>
            </a:r>
          </a:p>
        </p:txBody>
      </p:sp>
    </p:spTree>
    <p:extLst>
      <p:ext uri="{BB962C8B-B14F-4D97-AF65-F5344CB8AC3E}">
        <p14:creationId xmlns:p14="http://schemas.microsoft.com/office/powerpoint/2010/main" val="235373038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6" pos="3749">
          <p15:clr>
            <a:srgbClr val="A4A3A4"/>
          </p15:clr>
        </p15:guide>
        <p15:guide id="17" pos="3932">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slideLayout" Target="../slideLayouts/slideLayout108.xml"/><Relationship Id="rId109" Type="http://schemas.openxmlformats.org/officeDocument/2006/relationships/slideLayout" Target="../slideLayouts/slideLayout109.xml"/><Relationship Id="rId110" Type="http://schemas.openxmlformats.org/officeDocument/2006/relationships/slideLayout" Target="../slideLayouts/slideLayout110.xml"/><Relationship Id="rId111" Type="http://schemas.openxmlformats.org/officeDocument/2006/relationships/slideLayout" Target="../slideLayouts/slideLayout111.xml"/><Relationship Id="rId112" Type="http://schemas.openxmlformats.org/officeDocument/2006/relationships/slideLayout" Target="../slideLayouts/slideLayout112.xml"/><Relationship Id="rId113" Type="http://schemas.openxmlformats.org/officeDocument/2006/relationships/slideLayout" Target="../slideLayouts/slideLayout113.xml"/><Relationship Id="rId114" Type="http://schemas.openxmlformats.org/officeDocument/2006/relationships/theme" Target="../theme/theme1.xml"/><Relationship Id="rId115"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15"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80" r:id="rId1"/>
    <p:sldLayoutId id="2147484609" r:id="rId2"/>
    <p:sldLayoutId id="2147484577" r:id="rId3"/>
    <p:sldLayoutId id="2147485286" r:id="rId4"/>
    <p:sldLayoutId id="2147485390" r:id="rId5"/>
    <p:sldLayoutId id="2147484610" r:id="rId6"/>
    <p:sldLayoutId id="2147485389" r:id="rId7"/>
    <p:sldLayoutId id="2147485395" r:id="rId8"/>
    <p:sldLayoutId id="2147485396" r:id="rId9"/>
    <p:sldLayoutId id="2147484710" r:id="rId10"/>
    <p:sldLayoutId id="2147484240" r:id="rId11"/>
    <p:sldLayoutId id="2147484910" r:id="rId12"/>
    <p:sldLayoutId id="2147484911" r:id="rId13"/>
    <p:sldLayoutId id="2147485050" r:id="rId14"/>
    <p:sldLayoutId id="2147485165" r:id="rId15"/>
    <p:sldLayoutId id="2147484941" r:id="rId16"/>
    <p:sldLayoutId id="2147484942" r:id="rId17"/>
    <p:sldLayoutId id="2147485162" r:id="rId18"/>
    <p:sldLayoutId id="2147484639" r:id="rId19"/>
    <p:sldLayoutId id="2147484943" r:id="rId20"/>
    <p:sldLayoutId id="2147484603" r:id="rId21"/>
    <p:sldLayoutId id="2147485324" r:id="rId22"/>
    <p:sldLayoutId id="2147485326" r:id="rId23"/>
    <p:sldLayoutId id="2147485327" r:id="rId24"/>
    <p:sldLayoutId id="2147485328" r:id="rId25"/>
    <p:sldLayoutId id="2147485329" r:id="rId26"/>
    <p:sldLayoutId id="2147485330" r:id="rId27"/>
    <p:sldLayoutId id="2147485325" r:id="rId28"/>
    <p:sldLayoutId id="2147485331" r:id="rId29"/>
    <p:sldLayoutId id="2147485332" r:id="rId30"/>
    <p:sldLayoutId id="2147485366" r:id="rId31"/>
    <p:sldLayoutId id="2147485333" r:id="rId32"/>
    <p:sldLayoutId id="2147485334" r:id="rId33"/>
    <p:sldLayoutId id="2147485394" r:id="rId34"/>
    <p:sldLayoutId id="2147485340" r:id="rId35"/>
    <p:sldLayoutId id="2147485346" r:id="rId36"/>
    <p:sldLayoutId id="2147485349" r:id="rId37"/>
    <p:sldLayoutId id="2147485351" r:id="rId38"/>
    <p:sldLayoutId id="2147485369" r:id="rId39"/>
    <p:sldLayoutId id="2147485363" r:id="rId40"/>
    <p:sldLayoutId id="2147485370" r:id="rId41"/>
    <p:sldLayoutId id="2147484833" r:id="rId42"/>
    <p:sldLayoutId id="2147484834" r:id="rId43"/>
    <p:sldLayoutId id="2147484835" r:id="rId44"/>
    <p:sldLayoutId id="2147485385" r:id="rId45"/>
    <p:sldLayoutId id="2147485387" r:id="rId46"/>
    <p:sldLayoutId id="2147485382" r:id="rId47"/>
    <p:sldLayoutId id="2147484922" r:id="rId48"/>
    <p:sldLayoutId id="2147484923" r:id="rId49"/>
    <p:sldLayoutId id="2147485287" r:id="rId50"/>
    <p:sldLayoutId id="2147484924" r:id="rId51"/>
    <p:sldLayoutId id="2147484839" r:id="rId52"/>
    <p:sldLayoutId id="2147484840" r:id="rId53"/>
    <p:sldLayoutId id="2147485383" r:id="rId54"/>
    <p:sldLayoutId id="2147484841" r:id="rId55"/>
    <p:sldLayoutId id="2147484842" r:id="rId56"/>
    <p:sldLayoutId id="2147484843" r:id="rId57"/>
    <p:sldLayoutId id="2147484938" r:id="rId58"/>
    <p:sldLayoutId id="2147484939" r:id="rId59"/>
    <p:sldLayoutId id="2147484940" r:id="rId60"/>
    <p:sldLayoutId id="2147485161" r:id="rId61"/>
    <p:sldLayoutId id="2147485152" r:id="rId62"/>
    <p:sldLayoutId id="2147485153" r:id="rId63"/>
    <p:sldLayoutId id="2147485154" r:id="rId64"/>
    <p:sldLayoutId id="2147485379" r:id="rId65"/>
    <p:sldLayoutId id="2147485380" r:id="rId66"/>
    <p:sldLayoutId id="2147485381" r:id="rId67"/>
    <p:sldLayoutId id="2147484944" r:id="rId68"/>
    <p:sldLayoutId id="2147484945" r:id="rId69"/>
    <p:sldLayoutId id="2147485372" r:id="rId70"/>
    <p:sldLayoutId id="2147485373" r:id="rId71"/>
    <p:sldLayoutId id="2147485388" r:id="rId72"/>
    <p:sldLayoutId id="2147485296" r:id="rId73"/>
    <p:sldLayoutId id="2147485392" r:id="rId74"/>
    <p:sldLayoutId id="2147485393" r:id="rId75"/>
    <p:sldLayoutId id="2147485368" r:id="rId76"/>
    <p:sldLayoutId id="2147485367" r:id="rId77"/>
    <p:sldLayoutId id="2147485292" r:id="rId78"/>
    <p:sldLayoutId id="2147485294" r:id="rId79"/>
    <p:sldLayoutId id="2147485338" r:id="rId80"/>
    <p:sldLayoutId id="2147485339" r:id="rId81"/>
    <p:sldLayoutId id="2147485360" r:id="rId82"/>
    <p:sldLayoutId id="2147485364" r:id="rId83"/>
    <p:sldLayoutId id="2147485365" r:id="rId84"/>
    <p:sldLayoutId id="2147485352" r:id="rId85"/>
    <p:sldLayoutId id="2147485353" r:id="rId86"/>
    <p:sldLayoutId id="2147485354" r:id="rId87"/>
    <p:sldLayoutId id="2147485355" r:id="rId88"/>
    <p:sldLayoutId id="2147485356" r:id="rId89"/>
    <p:sldLayoutId id="2147485374" r:id="rId90"/>
    <p:sldLayoutId id="2147485375" r:id="rId91"/>
    <p:sldLayoutId id="2147485376" r:id="rId92"/>
    <p:sldLayoutId id="2147485377" r:id="rId93"/>
    <p:sldLayoutId id="2147485378" r:id="rId94"/>
    <p:sldLayoutId id="2147485137" r:id="rId95"/>
    <p:sldLayoutId id="2147485138" r:id="rId96"/>
    <p:sldLayoutId id="2147485139" r:id="rId97"/>
    <p:sldLayoutId id="2147485140" r:id="rId98"/>
    <p:sldLayoutId id="2147485141" r:id="rId99"/>
    <p:sldLayoutId id="2147485142" r:id="rId100"/>
    <p:sldLayoutId id="2147484249" r:id="rId101"/>
    <p:sldLayoutId id="2147484640" r:id="rId102"/>
    <p:sldLayoutId id="2147485288" r:id="rId103"/>
    <p:sldLayoutId id="2147485290" r:id="rId104"/>
    <p:sldLayoutId id="2147485289" r:id="rId105"/>
    <p:sldLayoutId id="2147485291" r:id="rId106"/>
    <p:sldLayoutId id="2147484584" r:id="rId107"/>
    <p:sldLayoutId id="2147484583" r:id="rId108"/>
    <p:sldLayoutId id="2147484671" r:id="rId109"/>
    <p:sldLayoutId id="2147484673" r:id="rId110"/>
    <p:sldLayoutId id="2147485391" r:id="rId111"/>
    <p:sldLayoutId id="2147484299" r:id="rId112"/>
    <p:sldLayoutId id="2147484263" r:id="rId1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11277295" cy="914400"/>
          </a:xfrm>
          <a:prstGeom prst="rect">
            <a:avLst/>
          </a:prstGeom>
          <a:noFill/>
        </p:spPr>
        <p:txBody>
          <a:bodyPr wrap="square">
            <a:spAutoFit/>
          </a:bodyPr>
          <a:lstStyle/>
          <a:p>
            <a:pPr>
              <a:defRPr sz="4400">
                <a:solidFill>
                  <a:srgbClr val="323130"/>
                </a:solidFill>
                <a:latin typeface="Segoe UI Semibold"/>
              </a:defRPr>
            </a:pPr>
            <a:r>
              <a:t>Zurn Elkay CI System</a:t>
            </a:r>
          </a:p>
        </p:txBody>
      </p:sp>
      <p:sp>
        <p:nvSpPr>
          <p:cNvPr id="3" name="TextBox 2"/>
          <p:cNvSpPr txBox="1"/>
          <p:nvPr/>
        </p:nvSpPr>
        <p:spPr>
          <a:xfrm>
            <a:off x="457200" y="3200400"/>
            <a:ext cx="11277295" cy="548640"/>
          </a:xfrm>
          <a:prstGeom prst="rect">
            <a:avLst/>
          </a:prstGeom>
          <a:noFill/>
        </p:spPr>
        <p:txBody>
          <a:bodyPr wrap="square">
            <a:spAutoFit/>
          </a:bodyPr>
          <a:lstStyle/>
          <a:p>
            <a:pPr>
              <a:defRPr sz="2400">
                <a:solidFill>
                  <a:srgbClr val="605E5C"/>
                </a:solidFill>
                <a:latin typeface="Segoe UI"/>
              </a:defRPr>
            </a:pPr>
            <a:r>
              <a:t>AI-Powered Competitive Intelligence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Agenda</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Executive Overview &amp; The Challenge</a:t>
            </a:r>
          </a:p>
          <a:p>
            <a:pPr>
              <a:spcAft>
                <a:spcPts val="1200"/>
              </a:spcAft>
              <a:defRPr sz="1800">
                <a:solidFill>
                  <a:srgbClr val="323130"/>
                </a:solidFill>
                <a:latin typeface="Segoe UI"/>
              </a:defRPr>
            </a:pPr>
            <a:r>
              <a:t>• System Architecture (7 Agents)</a:t>
            </a:r>
          </a:p>
          <a:p>
            <a:pPr>
              <a:spcAft>
                <a:spcPts val="1200"/>
              </a:spcAft>
              <a:defRPr sz="1800">
                <a:solidFill>
                  <a:srgbClr val="323130"/>
                </a:solidFill>
                <a:latin typeface="Segoe UI"/>
              </a:defRPr>
            </a:pPr>
            <a:r>
              <a:t>• The Agent Deep Dive</a:t>
            </a:r>
          </a:p>
          <a:p>
            <a:pPr>
              <a:spcAft>
                <a:spcPts val="1200"/>
              </a:spcAft>
              <a:defRPr sz="1800">
                <a:solidFill>
                  <a:srgbClr val="323130"/>
                </a:solidFill>
                <a:latin typeface="Segoe UI"/>
              </a:defRPr>
            </a:pPr>
            <a:r>
              <a:t>• Demo Flow (30-45 min)</a:t>
            </a:r>
          </a:p>
          <a:p>
            <a:pPr>
              <a:spcAft>
                <a:spcPts val="1200"/>
              </a:spcAft>
              <a:defRPr sz="1800">
                <a:solidFill>
                  <a:srgbClr val="323130"/>
                </a:solidFill>
                <a:latin typeface="Segoe UI"/>
              </a:defRPr>
            </a:pPr>
            <a:r>
              <a:t>• Business Value &amp; ROI</a:t>
            </a:r>
          </a:p>
          <a:p>
            <a:pPr>
              <a:spcAft>
                <a:spcPts val="1200"/>
              </a:spcAft>
              <a:defRPr sz="1800">
                <a:solidFill>
                  <a:srgbClr val="323130"/>
                </a:solidFill>
                <a:latin typeface="Segoe UI"/>
              </a:defRPr>
            </a:pPr>
            <a:r>
              <a:t>• 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914400"/>
          </a:xfrm>
          <a:prstGeom prst="rect">
            <a:avLst/>
          </a:prstGeom>
          <a:noFill/>
        </p:spPr>
        <p:txBody>
          <a:bodyPr wrap="square">
            <a:spAutoFit/>
          </a:bodyPr>
          <a:lstStyle/>
          <a:p>
            <a:pPr>
              <a:defRPr sz="3600">
                <a:solidFill>
                  <a:srgbClr val="323130"/>
                </a:solidFill>
                <a:latin typeface="Segoe UI Semibold"/>
              </a:defRPr>
            </a:pPr>
            <a:r>
              <a:t>Executive Overview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The Challenge: Before vs After</a:t>
            </a:r>
          </a:p>
        </p:txBody>
      </p:sp>
      <p:sp>
        <p:nvSpPr>
          <p:cNvPr id="3" name="TextBox 2"/>
          <p:cNvSpPr txBox="1"/>
          <p:nvPr/>
        </p:nvSpPr>
        <p:spPr>
          <a:xfrm>
            <a:off x="457200" y="1188720"/>
            <a:ext cx="4114800" cy="411480"/>
          </a:xfrm>
          <a:prstGeom prst="rect">
            <a:avLst/>
          </a:prstGeom>
          <a:noFill/>
        </p:spPr>
        <p:txBody>
          <a:bodyPr wrap="none">
            <a:spAutoFit/>
          </a:bodyPr>
          <a:lstStyle/>
          <a:p>
            <a:pPr>
              <a:defRPr sz="1600" b="1">
                <a:solidFill>
                  <a:srgbClr val="D13438"/>
                </a:solidFill>
              </a:defRPr>
            </a:pPr>
            <a:r>
              <a:t>Challenge</a:t>
            </a:r>
          </a:p>
        </p:txBody>
      </p:sp>
      <p:sp>
        <p:nvSpPr>
          <p:cNvPr id="4" name="TextBox 3"/>
          <p:cNvSpPr txBox="1"/>
          <p:nvPr/>
        </p:nvSpPr>
        <p:spPr>
          <a:xfrm>
            <a:off x="4663440" y="1188720"/>
            <a:ext cx="914400" cy="411480"/>
          </a:xfrm>
          <a:prstGeom prst="rect">
            <a:avLst/>
          </a:prstGeom>
          <a:noFill/>
        </p:spPr>
        <p:txBody>
          <a:bodyPr wrap="none">
            <a:spAutoFit/>
          </a:bodyPr>
          <a:lstStyle/>
          <a:p>
            <a:pPr>
              <a:defRPr sz="1600" b="1">
                <a:solidFill>
                  <a:srgbClr val="107C10"/>
                </a:solidFill>
              </a:defRPr>
            </a:pPr>
          </a:p>
        </p:txBody>
      </p:sp>
      <p:sp>
        <p:nvSpPr>
          <p:cNvPr id="5" name="TextBox 4"/>
          <p:cNvSpPr txBox="1"/>
          <p:nvPr/>
        </p:nvSpPr>
        <p:spPr>
          <a:xfrm>
            <a:off x="5669280" y="1188720"/>
            <a:ext cx="5943600" cy="411480"/>
          </a:xfrm>
          <a:prstGeom prst="rect">
            <a:avLst/>
          </a:prstGeom>
          <a:noFill/>
        </p:spPr>
        <p:txBody>
          <a:bodyPr wrap="none">
            <a:spAutoFit/>
          </a:bodyPr>
          <a:lstStyle/>
          <a:p>
            <a:pPr>
              <a:defRPr sz="1600" b="1">
                <a:solidFill>
                  <a:srgbClr val="107C10"/>
                </a:solidFill>
              </a:defRPr>
            </a:pPr>
            <a:r>
              <a:t>Solution</a:t>
            </a:r>
          </a:p>
        </p:txBody>
      </p:sp>
      <p:sp>
        <p:nvSpPr>
          <p:cNvPr id="6" name="TextBox 5"/>
          <p:cNvSpPr txBox="1"/>
          <p:nvPr/>
        </p:nvSpPr>
        <p:spPr>
          <a:xfrm>
            <a:off x="457200" y="1645920"/>
            <a:ext cx="4114800" cy="457200"/>
          </a:xfrm>
          <a:prstGeom prst="rect">
            <a:avLst/>
          </a:prstGeom>
          <a:noFill/>
        </p:spPr>
        <p:txBody>
          <a:bodyPr wrap="square">
            <a:spAutoFit/>
          </a:bodyPr>
          <a:lstStyle/>
          <a:p>
            <a:pPr>
              <a:defRPr sz="1400" b="0">
                <a:solidFill>
                  <a:srgbClr val="323130"/>
                </a:solidFill>
              </a:defRPr>
            </a:pPr>
            <a:r>
              <a:t>• Manual research takes 2-3 weeks per quarter</a:t>
            </a:r>
          </a:p>
        </p:txBody>
      </p:sp>
      <p:sp>
        <p:nvSpPr>
          <p:cNvPr id="7" name="TextBox 6"/>
          <p:cNvSpPr txBox="1"/>
          <p:nvPr/>
        </p:nvSpPr>
        <p:spPr>
          <a:xfrm>
            <a:off x="4663440" y="1645920"/>
            <a:ext cx="914400" cy="457200"/>
          </a:xfrm>
          <a:prstGeom prst="rect">
            <a:avLst/>
          </a:prstGeom>
          <a:noFill/>
        </p:spPr>
        <p:txBody>
          <a:bodyPr wrap="none">
            <a:spAutoFit/>
          </a:bodyPr>
          <a:lstStyle/>
          <a:p>
            <a:pPr algn="ctr">
              <a:defRPr sz="2400" b="1">
                <a:solidFill>
                  <a:srgbClr val="107C10"/>
                </a:solidFill>
              </a:defRPr>
            </a:pPr>
            <a:r>
              <a:t>→</a:t>
            </a:r>
          </a:p>
        </p:txBody>
      </p:sp>
      <p:sp>
        <p:nvSpPr>
          <p:cNvPr id="8" name="TextBox 7"/>
          <p:cNvSpPr txBox="1"/>
          <p:nvPr/>
        </p:nvSpPr>
        <p:spPr>
          <a:xfrm>
            <a:off x="5669280" y="1645920"/>
            <a:ext cx="5943600" cy="457200"/>
          </a:xfrm>
          <a:prstGeom prst="rect">
            <a:avLst/>
          </a:prstGeom>
          <a:noFill/>
        </p:spPr>
        <p:txBody>
          <a:bodyPr wrap="square">
            <a:spAutoFit/>
          </a:bodyPr>
          <a:lstStyle/>
          <a:p>
            <a:pPr>
              <a:defRPr sz="1400" b="1">
                <a:solidFill>
                  <a:srgbClr val="107C10"/>
                </a:solidFill>
              </a:defRPr>
            </a:pPr>
            <a:r>
              <a:t>• Automated analysis in hours</a:t>
            </a:r>
          </a:p>
        </p:txBody>
      </p:sp>
      <p:sp>
        <p:nvSpPr>
          <p:cNvPr id="9" name="TextBox 8"/>
          <p:cNvSpPr txBox="1"/>
          <p:nvPr/>
        </p:nvSpPr>
        <p:spPr>
          <a:xfrm>
            <a:off x="457200" y="2286000"/>
            <a:ext cx="4114800" cy="457200"/>
          </a:xfrm>
          <a:prstGeom prst="rect">
            <a:avLst/>
          </a:prstGeom>
          <a:noFill/>
        </p:spPr>
        <p:txBody>
          <a:bodyPr wrap="square">
            <a:spAutoFit/>
          </a:bodyPr>
          <a:lstStyle/>
          <a:p>
            <a:pPr>
              <a:defRPr sz="1400" b="0">
                <a:solidFill>
                  <a:srgbClr val="323130"/>
                </a:solidFill>
              </a:defRPr>
            </a:pPr>
            <a:r>
              <a:t>• 5 BUs using 5 different methodologies</a:t>
            </a:r>
          </a:p>
        </p:txBody>
      </p:sp>
      <p:sp>
        <p:nvSpPr>
          <p:cNvPr id="10" name="TextBox 9"/>
          <p:cNvSpPr txBox="1"/>
          <p:nvPr/>
        </p:nvSpPr>
        <p:spPr>
          <a:xfrm>
            <a:off x="4663440" y="2286000"/>
            <a:ext cx="914400" cy="457200"/>
          </a:xfrm>
          <a:prstGeom prst="rect">
            <a:avLst/>
          </a:prstGeom>
          <a:noFill/>
        </p:spPr>
        <p:txBody>
          <a:bodyPr wrap="none">
            <a:spAutoFit/>
          </a:bodyPr>
          <a:lstStyle/>
          <a:p>
            <a:pPr algn="ctr">
              <a:defRPr sz="2400" b="1">
                <a:solidFill>
                  <a:srgbClr val="107C10"/>
                </a:solidFill>
              </a:defRPr>
            </a:pPr>
            <a:r>
              <a:t>→</a:t>
            </a:r>
          </a:p>
        </p:txBody>
      </p:sp>
      <p:sp>
        <p:nvSpPr>
          <p:cNvPr id="11" name="TextBox 10"/>
          <p:cNvSpPr txBox="1"/>
          <p:nvPr/>
        </p:nvSpPr>
        <p:spPr>
          <a:xfrm>
            <a:off x="5669280" y="2286000"/>
            <a:ext cx="5943600" cy="457200"/>
          </a:xfrm>
          <a:prstGeom prst="rect">
            <a:avLst/>
          </a:prstGeom>
          <a:noFill/>
        </p:spPr>
        <p:txBody>
          <a:bodyPr wrap="square">
            <a:spAutoFit/>
          </a:bodyPr>
          <a:lstStyle/>
          <a:p>
            <a:pPr>
              <a:defRPr sz="1400" b="1">
                <a:solidFill>
                  <a:srgbClr val="107C10"/>
                </a:solidFill>
              </a:defRPr>
            </a:pPr>
            <a:r>
              <a:t>• One unified framework across all BUs</a:t>
            </a:r>
          </a:p>
        </p:txBody>
      </p:sp>
      <p:sp>
        <p:nvSpPr>
          <p:cNvPr id="12" name="TextBox 11"/>
          <p:cNvSpPr txBox="1"/>
          <p:nvPr/>
        </p:nvSpPr>
        <p:spPr>
          <a:xfrm>
            <a:off x="457200" y="2926080"/>
            <a:ext cx="4114800" cy="457200"/>
          </a:xfrm>
          <a:prstGeom prst="rect">
            <a:avLst/>
          </a:prstGeom>
          <a:noFill/>
        </p:spPr>
        <p:txBody>
          <a:bodyPr wrap="square">
            <a:spAutoFit/>
          </a:bodyPr>
          <a:lstStyle/>
          <a:p>
            <a:pPr>
              <a:defRPr sz="1400" b="0">
                <a:solidFill>
                  <a:srgbClr val="323130"/>
                </a:solidFill>
              </a:defRPr>
            </a:pPr>
            <a:r>
              <a:t>• Missing cross-portfolio moves by parent cos</a:t>
            </a:r>
          </a:p>
        </p:txBody>
      </p:sp>
      <p:sp>
        <p:nvSpPr>
          <p:cNvPr id="13" name="TextBox 12"/>
          <p:cNvSpPr txBox="1"/>
          <p:nvPr/>
        </p:nvSpPr>
        <p:spPr>
          <a:xfrm>
            <a:off x="4663440" y="2926080"/>
            <a:ext cx="914400" cy="457200"/>
          </a:xfrm>
          <a:prstGeom prst="rect">
            <a:avLst/>
          </a:prstGeom>
          <a:noFill/>
        </p:spPr>
        <p:txBody>
          <a:bodyPr wrap="none">
            <a:spAutoFit/>
          </a:bodyPr>
          <a:lstStyle/>
          <a:p>
            <a:pPr algn="ctr">
              <a:defRPr sz="2400" b="1">
                <a:solidFill>
                  <a:srgbClr val="107C10"/>
                </a:solidFill>
              </a:defRPr>
            </a:pPr>
            <a:r>
              <a:t>→</a:t>
            </a:r>
          </a:p>
        </p:txBody>
      </p:sp>
      <p:sp>
        <p:nvSpPr>
          <p:cNvPr id="14" name="TextBox 13"/>
          <p:cNvSpPr txBox="1"/>
          <p:nvPr/>
        </p:nvSpPr>
        <p:spPr>
          <a:xfrm>
            <a:off x="5669280" y="2926080"/>
            <a:ext cx="5943600" cy="457200"/>
          </a:xfrm>
          <a:prstGeom prst="rect">
            <a:avLst/>
          </a:prstGeom>
          <a:noFill/>
        </p:spPr>
        <p:txBody>
          <a:bodyPr wrap="square">
            <a:spAutoFit/>
          </a:bodyPr>
          <a:lstStyle/>
          <a:p>
            <a:pPr>
              <a:defRPr sz="1400" b="1">
                <a:solidFill>
                  <a:srgbClr val="107C10"/>
                </a:solidFill>
              </a:defRPr>
            </a:pPr>
            <a:r>
              <a:t>• Automatic parent company detection</a:t>
            </a:r>
          </a:p>
        </p:txBody>
      </p:sp>
      <p:sp>
        <p:nvSpPr>
          <p:cNvPr id="15" name="TextBox 14"/>
          <p:cNvSpPr txBox="1"/>
          <p:nvPr/>
        </p:nvSpPr>
        <p:spPr>
          <a:xfrm>
            <a:off x="457200" y="3566159"/>
            <a:ext cx="4114800" cy="457200"/>
          </a:xfrm>
          <a:prstGeom prst="rect">
            <a:avLst/>
          </a:prstGeom>
          <a:noFill/>
        </p:spPr>
        <p:txBody>
          <a:bodyPr wrap="square">
            <a:spAutoFit/>
          </a:bodyPr>
          <a:lstStyle/>
          <a:p>
            <a:pPr>
              <a:defRPr sz="1400" b="0">
                <a:solidFill>
                  <a:srgbClr val="323130"/>
                </a:solidFill>
              </a:defRPr>
            </a:pPr>
            <a:r>
              <a:t>• Inconsistent source attribution</a:t>
            </a:r>
          </a:p>
        </p:txBody>
      </p:sp>
      <p:sp>
        <p:nvSpPr>
          <p:cNvPr id="16" name="TextBox 15"/>
          <p:cNvSpPr txBox="1"/>
          <p:nvPr/>
        </p:nvSpPr>
        <p:spPr>
          <a:xfrm>
            <a:off x="4663440" y="3566159"/>
            <a:ext cx="914400" cy="457200"/>
          </a:xfrm>
          <a:prstGeom prst="rect">
            <a:avLst/>
          </a:prstGeom>
          <a:noFill/>
        </p:spPr>
        <p:txBody>
          <a:bodyPr wrap="none">
            <a:spAutoFit/>
          </a:bodyPr>
          <a:lstStyle/>
          <a:p>
            <a:pPr algn="ctr">
              <a:defRPr sz="2400" b="1">
                <a:solidFill>
                  <a:srgbClr val="107C10"/>
                </a:solidFill>
              </a:defRPr>
            </a:pPr>
            <a:r>
              <a:t>→</a:t>
            </a:r>
          </a:p>
        </p:txBody>
      </p:sp>
      <p:sp>
        <p:nvSpPr>
          <p:cNvPr id="17" name="TextBox 16"/>
          <p:cNvSpPr txBox="1"/>
          <p:nvPr/>
        </p:nvSpPr>
        <p:spPr>
          <a:xfrm>
            <a:off x="5669280" y="3566159"/>
            <a:ext cx="5943600" cy="457200"/>
          </a:xfrm>
          <a:prstGeom prst="rect">
            <a:avLst/>
          </a:prstGeom>
          <a:noFill/>
        </p:spPr>
        <p:txBody>
          <a:bodyPr wrap="square">
            <a:spAutoFit/>
          </a:bodyPr>
          <a:lstStyle/>
          <a:p>
            <a:pPr>
              <a:defRPr sz="1400" b="1">
                <a:solidFill>
                  <a:srgbClr val="107C10"/>
                </a:solidFill>
              </a:defRPr>
            </a:pPr>
            <a:r>
              <a:t>• Every item sourced with confidence score</a:t>
            </a:r>
          </a:p>
        </p:txBody>
      </p:sp>
      <p:sp>
        <p:nvSpPr>
          <p:cNvPr id="18" name="TextBox 17"/>
          <p:cNvSpPr txBox="1"/>
          <p:nvPr/>
        </p:nvSpPr>
        <p:spPr>
          <a:xfrm>
            <a:off x="457200" y="4206240"/>
            <a:ext cx="4114800" cy="457200"/>
          </a:xfrm>
          <a:prstGeom prst="rect">
            <a:avLst/>
          </a:prstGeom>
          <a:noFill/>
        </p:spPr>
        <p:txBody>
          <a:bodyPr wrap="square">
            <a:spAutoFit/>
          </a:bodyPr>
          <a:lstStyle/>
          <a:p>
            <a:pPr>
              <a:defRPr sz="1400" b="0">
                <a:solidFill>
                  <a:srgbClr val="323130"/>
                </a:solidFill>
              </a:defRPr>
            </a:pPr>
            <a:r>
              <a:t>• Manual roll-up for executive briefings</a:t>
            </a:r>
          </a:p>
        </p:txBody>
      </p:sp>
      <p:sp>
        <p:nvSpPr>
          <p:cNvPr id="19" name="TextBox 18"/>
          <p:cNvSpPr txBox="1"/>
          <p:nvPr/>
        </p:nvSpPr>
        <p:spPr>
          <a:xfrm>
            <a:off x="4663440" y="4206240"/>
            <a:ext cx="914400" cy="457200"/>
          </a:xfrm>
          <a:prstGeom prst="rect">
            <a:avLst/>
          </a:prstGeom>
          <a:noFill/>
        </p:spPr>
        <p:txBody>
          <a:bodyPr wrap="none">
            <a:spAutoFit/>
          </a:bodyPr>
          <a:lstStyle/>
          <a:p>
            <a:pPr algn="ctr">
              <a:defRPr sz="2400" b="1">
                <a:solidFill>
                  <a:srgbClr val="107C10"/>
                </a:solidFill>
              </a:defRPr>
            </a:pPr>
            <a:r>
              <a:t>→</a:t>
            </a:r>
          </a:p>
        </p:txBody>
      </p:sp>
      <p:sp>
        <p:nvSpPr>
          <p:cNvPr id="20" name="TextBox 19"/>
          <p:cNvSpPr txBox="1"/>
          <p:nvPr/>
        </p:nvSpPr>
        <p:spPr>
          <a:xfrm>
            <a:off x="5669280" y="4206240"/>
            <a:ext cx="5943600" cy="457200"/>
          </a:xfrm>
          <a:prstGeom prst="rect">
            <a:avLst/>
          </a:prstGeom>
          <a:noFill/>
        </p:spPr>
        <p:txBody>
          <a:bodyPr wrap="square">
            <a:spAutoFit/>
          </a:bodyPr>
          <a:lstStyle/>
          <a:p>
            <a:pPr>
              <a:defRPr sz="1400" b="1">
                <a:solidFill>
                  <a:srgbClr val="107C10"/>
                </a:solidFill>
              </a:defRPr>
            </a:pPr>
            <a:r>
              <a:t>• CEO-ready briefings on demand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Key Value Delivered</a:t>
            </a:r>
          </a:p>
        </p:txBody>
      </p:sp>
      <p:sp>
        <p:nvSpPr>
          <p:cNvPr id="3" name="Rounded Rectangle 2"/>
          <p:cNvSpPr/>
          <p:nvPr/>
        </p:nvSpPr>
        <p:spPr>
          <a:xfrm>
            <a:off x="609447" y="1188720"/>
            <a:ext cx="3474720" cy="2560320"/>
          </a:xfrm>
          <a:prstGeom prst="roundRect">
            <a:avLst/>
          </a:prstGeom>
          <a:solidFill>
            <a:srgbClr val="FFFFFF"/>
          </a:solidFill>
          <a:ln w="12700">
            <a:solidFill>
              <a:srgbClr val="A19F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447" y="1325880"/>
            <a:ext cx="3474720" cy="457200"/>
          </a:xfrm>
          <a:prstGeom prst="rect">
            <a:avLst/>
          </a:prstGeom>
          <a:noFill/>
        </p:spPr>
        <p:txBody>
          <a:bodyPr wrap="none">
            <a:spAutoFit/>
          </a:bodyPr>
          <a:lstStyle/>
          <a:p>
            <a:pPr algn="ctr">
              <a:defRPr sz="3200"/>
            </a:pPr>
            <a:r>
              <a:t>⏱️</a:t>
            </a:r>
          </a:p>
        </p:txBody>
      </p:sp>
      <p:sp>
        <p:nvSpPr>
          <p:cNvPr id="5" name="TextBox 4"/>
          <p:cNvSpPr txBox="1"/>
          <p:nvPr/>
        </p:nvSpPr>
        <p:spPr>
          <a:xfrm>
            <a:off x="700887" y="1783080"/>
            <a:ext cx="3291839" cy="365760"/>
          </a:xfrm>
          <a:prstGeom prst="rect">
            <a:avLst/>
          </a:prstGeom>
          <a:noFill/>
        </p:spPr>
        <p:txBody>
          <a:bodyPr wrap="square">
            <a:spAutoFit/>
          </a:bodyPr>
          <a:lstStyle/>
          <a:p>
            <a:pPr algn="ctr">
              <a:defRPr sz="1400" b="1">
                <a:solidFill>
                  <a:srgbClr val="0078D4"/>
                </a:solidFill>
              </a:defRPr>
            </a:pPr>
            <a:r>
              <a:t>Time Savings</a:t>
            </a:r>
          </a:p>
        </p:txBody>
      </p:sp>
      <p:sp>
        <p:nvSpPr>
          <p:cNvPr id="6" name="TextBox 5"/>
          <p:cNvSpPr txBox="1"/>
          <p:nvPr/>
        </p:nvSpPr>
        <p:spPr>
          <a:xfrm>
            <a:off x="700887" y="2148840"/>
            <a:ext cx="3291839" cy="548640"/>
          </a:xfrm>
          <a:prstGeom prst="rect">
            <a:avLst/>
          </a:prstGeom>
          <a:noFill/>
        </p:spPr>
        <p:txBody>
          <a:bodyPr wrap="square">
            <a:spAutoFit/>
          </a:bodyPr>
          <a:lstStyle/>
          <a:p>
            <a:pPr algn="ctr">
              <a:defRPr sz="1000">
                <a:solidFill>
                  <a:srgbClr val="605E5C"/>
                </a:solidFill>
              </a:defRPr>
            </a:pPr>
            <a:r>
              <a:t>Quarterly analysis completed in hours</a:t>
            </a:r>
          </a:p>
        </p:txBody>
      </p:sp>
      <p:sp>
        <p:nvSpPr>
          <p:cNvPr id="7" name="TextBox 6"/>
          <p:cNvSpPr txBox="1"/>
          <p:nvPr/>
        </p:nvSpPr>
        <p:spPr>
          <a:xfrm>
            <a:off x="746607" y="3200399"/>
            <a:ext cx="1097280" cy="320040"/>
          </a:xfrm>
          <a:prstGeom prst="rect">
            <a:avLst/>
          </a:prstGeom>
          <a:noFill/>
        </p:spPr>
        <p:txBody>
          <a:bodyPr wrap="none">
            <a:spAutoFit/>
          </a:bodyPr>
          <a:lstStyle/>
          <a:p>
            <a:pPr algn="ctr">
              <a:defRPr sz="1100">
                <a:solidFill>
                  <a:srgbClr val="D13438"/>
                </a:solidFill>
              </a:defRPr>
            </a:pPr>
            <a:r>
              <a:t>Weeks</a:t>
            </a:r>
          </a:p>
        </p:txBody>
      </p:sp>
      <p:sp>
        <p:nvSpPr>
          <p:cNvPr id="8" name="TextBox 7"/>
          <p:cNvSpPr txBox="1"/>
          <p:nvPr/>
        </p:nvSpPr>
        <p:spPr>
          <a:xfrm>
            <a:off x="1889607" y="3200399"/>
            <a:ext cx="548640" cy="320040"/>
          </a:xfrm>
          <a:prstGeom prst="rect">
            <a:avLst/>
          </a:prstGeom>
          <a:noFill/>
        </p:spPr>
        <p:txBody>
          <a:bodyPr wrap="none">
            <a:spAutoFit/>
          </a:bodyPr>
          <a:lstStyle/>
          <a:p>
            <a:pPr algn="ctr">
              <a:defRPr sz="1400" b="1">
                <a:solidFill>
                  <a:srgbClr val="107C10"/>
                </a:solidFill>
              </a:defRPr>
            </a:pPr>
            <a:r>
              <a:t>→</a:t>
            </a:r>
          </a:p>
        </p:txBody>
      </p:sp>
      <p:sp>
        <p:nvSpPr>
          <p:cNvPr id="9" name="TextBox 8"/>
          <p:cNvSpPr txBox="1"/>
          <p:nvPr/>
        </p:nvSpPr>
        <p:spPr>
          <a:xfrm>
            <a:off x="2438247" y="3200399"/>
            <a:ext cx="1371600" cy="320040"/>
          </a:xfrm>
          <a:prstGeom prst="rect">
            <a:avLst/>
          </a:prstGeom>
          <a:noFill/>
        </p:spPr>
        <p:txBody>
          <a:bodyPr wrap="none">
            <a:spAutoFit/>
          </a:bodyPr>
          <a:lstStyle/>
          <a:p>
            <a:pPr algn="ctr">
              <a:defRPr sz="1100" b="1">
                <a:solidFill>
                  <a:srgbClr val="107C10"/>
                </a:solidFill>
              </a:defRPr>
            </a:pPr>
            <a:r>
              <a:t>Hours</a:t>
            </a:r>
          </a:p>
        </p:txBody>
      </p:sp>
      <p:sp>
        <p:nvSpPr>
          <p:cNvPr id="10" name="Rounded Rectangle 9"/>
          <p:cNvSpPr/>
          <p:nvPr/>
        </p:nvSpPr>
        <p:spPr>
          <a:xfrm>
            <a:off x="4358487" y="1188720"/>
            <a:ext cx="3474720" cy="2560320"/>
          </a:xfrm>
          <a:prstGeom prst="roundRect">
            <a:avLst/>
          </a:prstGeom>
          <a:solidFill>
            <a:srgbClr val="FFFFFF"/>
          </a:solidFill>
          <a:ln w="12700">
            <a:solidFill>
              <a:srgbClr val="A19F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58487" y="1325880"/>
            <a:ext cx="3474720" cy="457200"/>
          </a:xfrm>
          <a:prstGeom prst="rect">
            <a:avLst/>
          </a:prstGeom>
          <a:noFill/>
        </p:spPr>
        <p:txBody>
          <a:bodyPr wrap="none">
            <a:spAutoFit/>
          </a:bodyPr>
          <a:lstStyle/>
          <a:p>
            <a:pPr algn="ctr">
              <a:defRPr sz="3200"/>
            </a:pPr>
            <a:r>
              <a:t>📊</a:t>
            </a:r>
          </a:p>
        </p:txBody>
      </p:sp>
      <p:sp>
        <p:nvSpPr>
          <p:cNvPr id="12" name="TextBox 11"/>
          <p:cNvSpPr txBox="1"/>
          <p:nvPr/>
        </p:nvSpPr>
        <p:spPr>
          <a:xfrm>
            <a:off x="4449927" y="1783080"/>
            <a:ext cx="3291839" cy="365760"/>
          </a:xfrm>
          <a:prstGeom prst="rect">
            <a:avLst/>
          </a:prstGeom>
          <a:noFill/>
        </p:spPr>
        <p:txBody>
          <a:bodyPr wrap="square">
            <a:spAutoFit/>
          </a:bodyPr>
          <a:lstStyle/>
          <a:p>
            <a:pPr algn="ctr">
              <a:defRPr sz="1400" b="1">
                <a:solidFill>
                  <a:srgbClr val="0078D4"/>
                </a:solidFill>
              </a:defRPr>
            </a:pPr>
            <a:r>
              <a:t>Consistency</a:t>
            </a:r>
          </a:p>
        </p:txBody>
      </p:sp>
      <p:sp>
        <p:nvSpPr>
          <p:cNvPr id="13" name="TextBox 12"/>
          <p:cNvSpPr txBox="1"/>
          <p:nvPr/>
        </p:nvSpPr>
        <p:spPr>
          <a:xfrm>
            <a:off x="4449927" y="2148840"/>
            <a:ext cx="3291839" cy="548640"/>
          </a:xfrm>
          <a:prstGeom prst="rect">
            <a:avLst/>
          </a:prstGeom>
          <a:noFill/>
        </p:spPr>
        <p:txBody>
          <a:bodyPr wrap="square">
            <a:spAutoFit/>
          </a:bodyPr>
          <a:lstStyle/>
          <a:p>
            <a:pPr algn="ctr">
              <a:defRPr sz="1000">
                <a:solidFill>
                  <a:srgbClr val="605E5C"/>
                </a:solidFill>
              </a:defRPr>
            </a:pPr>
            <a:r>
              <a:t>Single framework for all 5 BUs</a:t>
            </a:r>
          </a:p>
        </p:txBody>
      </p:sp>
      <p:sp>
        <p:nvSpPr>
          <p:cNvPr id="14" name="TextBox 13"/>
          <p:cNvSpPr txBox="1"/>
          <p:nvPr/>
        </p:nvSpPr>
        <p:spPr>
          <a:xfrm>
            <a:off x="4495647" y="3200399"/>
            <a:ext cx="1097280" cy="320040"/>
          </a:xfrm>
          <a:prstGeom prst="rect">
            <a:avLst/>
          </a:prstGeom>
          <a:noFill/>
        </p:spPr>
        <p:txBody>
          <a:bodyPr wrap="none">
            <a:spAutoFit/>
          </a:bodyPr>
          <a:lstStyle/>
          <a:p>
            <a:pPr algn="ctr">
              <a:defRPr sz="1100">
                <a:solidFill>
                  <a:srgbClr val="D13438"/>
                </a:solidFill>
              </a:defRPr>
            </a:pPr>
            <a:r>
              <a:t>5 Methods</a:t>
            </a:r>
          </a:p>
        </p:txBody>
      </p:sp>
      <p:sp>
        <p:nvSpPr>
          <p:cNvPr id="15" name="TextBox 14"/>
          <p:cNvSpPr txBox="1"/>
          <p:nvPr/>
        </p:nvSpPr>
        <p:spPr>
          <a:xfrm>
            <a:off x="5638647" y="3200399"/>
            <a:ext cx="548640" cy="320040"/>
          </a:xfrm>
          <a:prstGeom prst="rect">
            <a:avLst/>
          </a:prstGeom>
          <a:noFill/>
        </p:spPr>
        <p:txBody>
          <a:bodyPr wrap="none">
            <a:spAutoFit/>
          </a:bodyPr>
          <a:lstStyle/>
          <a:p>
            <a:pPr algn="ctr">
              <a:defRPr sz="1400" b="1">
                <a:solidFill>
                  <a:srgbClr val="107C10"/>
                </a:solidFill>
              </a:defRPr>
            </a:pPr>
            <a:r>
              <a:t>→</a:t>
            </a:r>
          </a:p>
        </p:txBody>
      </p:sp>
      <p:sp>
        <p:nvSpPr>
          <p:cNvPr id="16" name="TextBox 15"/>
          <p:cNvSpPr txBox="1"/>
          <p:nvPr/>
        </p:nvSpPr>
        <p:spPr>
          <a:xfrm>
            <a:off x="6187287" y="3200399"/>
            <a:ext cx="1371600" cy="320040"/>
          </a:xfrm>
          <a:prstGeom prst="rect">
            <a:avLst/>
          </a:prstGeom>
          <a:noFill/>
        </p:spPr>
        <p:txBody>
          <a:bodyPr wrap="none">
            <a:spAutoFit/>
          </a:bodyPr>
          <a:lstStyle/>
          <a:p>
            <a:pPr algn="ctr">
              <a:defRPr sz="1100" b="1">
                <a:solidFill>
                  <a:srgbClr val="107C10"/>
                </a:solidFill>
              </a:defRPr>
            </a:pPr>
            <a:r>
              <a:t>1 Standard</a:t>
            </a:r>
          </a:p>
        </p:txBody>
      </p:sp>
      <p:sp>
        <p:nvSpPr>
          <p:cNvPr id="17" name="Rounded Rectangle 16"/>
          <p:cNvSpPr/>
          <p:nvPr/>
        </p:nvSpPr>
        <p:spPr>
          <a:xfrm>
            <a:off x="8107527" y="1188720"/>
            <a:ext cx="3474720" cy="2560320"/>
          </a:xfrm>
          <a:prstGeom prst="roundRect">
            <a:avLst/>
          </a:prstGeom>
          <a:solidFill>
            <a:srgbClr val="FFFFFF"/>
          </a:solidFill>
          <a:ln w="12700">
            <a:solidFill>
              <a:srgbClr val="A19F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7527" y="1325880"/>
            <a:ext cx="3474720" cy="457200"/>
          </a:xfrm>
          <a:prstGeom prst="rect">
            <a:avLst/>
          </a:prstGeom>
          <a:noFill/>
        </p:spPr>
        <p:txBody>
          <a:bodyPr wrap="none">
            <a:spAutoFit/>
          </a:bodyPr>
          <a:lstStyle/>
          <a:p>
            <a:pPr algn="ctr">
              <a:defRPr sz="3200"/>
            </a:pPr>
            <a:r>
              <a:t>🔗</a:t>
            </a:r>
          </a:p>
        </p:txBody>
      </p:sp>
      <p:sp>
        <p:nvSpPr>
          <p:cNvPr id="19" name="TextBox 18"/>
          <p:cNvSpPr txBox="1"/>
          <p:nvPr/>
        </p:nvSpPr>
        <p:spPr>
          <a:xfrm>
            <a:off x="8198967" y="1783080"/>
            <a:ext cx="3291839" cy="365760"/>
          </a:xfrm>
          <a:prstGeom prst="rect">
            <a:avLst/>
          </a:prstGeom>
          <a:noFill/>
        </p:spPr>
        <p:txBody>
          <a:bodyPr wrap="square">
            <a:spAutoFit/>
          </a:bodyPr>
          <a:lstStyle/>
          <a:p>
            <a:pPr algn="ctr">
              <a:defRPr sz="1400" b="1">
                <a:solidFill>
                  <a:srgbClr val="0078D4"/>
                </a:solidFill>
              </a:defRPr>
            </a:pPr>
            <a:r>
              <a:t>Cross-BU Visibility</a:t>
            </a:r>
          </a:p>
        </p:txBody>
      </p:sp>
      <p:sp>
        <p:nvSpPr>
          <p:cNvPr id="20" name="TextBox 19"/>
          <p:cNvSpPr txBox="1"/>
          <p:nvPr/>
        </p:nvSpPr>
        <p:spPr>
          <a:xfrm>
            <a:off x="8198967" y="2148840"/>
            <a:ext cx="3291839" cy="548640"/>
          </a:xfrm>
          <a:prstGeom prst="rect">
            <a:avLst/>
          </a:prstGeom>
          <a:noFill/>
        </p:spPr>
        <p:txBody>
          <a:bodyPr wrap="square">
            <a:spAutoFit/>
          </a:bodyPr>
          <a:lstStyle/>
          <a:p>
            <a:pPr algn="ctr">
              <a:defRPr sz="1000">
                <a:solidFill>
                  <a:srgbClr val="605E5C"/>
                </a:solidFill>
              </a:defRPr>
            </a:pPr>
            <a:r>
              <a:t>Parent company coordination detection</a:t>
            </a:r>
          </a:p>
        </p:txBody>
      </p:sp>
      <p:sp>
        <p:nvSpPr>
          <p:cNvPr id="21" name="TextBox 20"/>
          <p:cNvSpPr txBox="1"/>
          <p:nvPr/>
        </p:nvSpPr>
        <p:spPr>
          <a:xfrm>
            <a:off x="8244687" y="3200399"/>
            <a:ext cx="1097280" cy="320040"/>
          </a:xfrm>
          <a:prstGeom prst="rect">
            <a:avLst/>
          </a:prstGeom>
          <a:noFill/>
        </p:spPr>
        <p:txBody>
          <a:bodyPr wrap="none">
            <a:spAutoFit/>
          </a:bodyPr>
          <a:lstStyle/>
          <a:p>
            <a:pPr algn="ctr">
              <a:defRPr sz="1100">
                <a:solidFill>
                  <a:srgbClr val="D13438"/>
                </a:solidFill>
              </a:defRPr>
            </a:pPr>
            <a:r>
              <a:t>Siloed</a:t>
            </a:r>
          </a:p>
        </p:txBody>
      </p:sp>
      <p:sp>
        <p:nvSpPr>
          <p:cNvPr id="22" name="TextBox 21"/>
          <p:cNvSpPr txBox="1"/>
          <p:nvPr/>
        </p:nvSpPr>
        <p:spPr>
          <a:xfrm>
            <a:off x="9387687" y="3200399"/>
            <a:ext cx="548640" cy="320040"/>
          </a:xfrm>
          <a:prstGeom prst="rect">
            <a:avLst/>
          </a:prstGeom>
          <a:noFill/>
        </p:spPr>
        <p:txBody>
          <a:bodyPr wrap="none">
            <a:spAutoFit/>
          </a:bodyPr>
          <a:lstStyle/>
          <a:p>
            <a:pPr algn="ctr">
              <a:defRPr sz="1400" b="1">
                <a:solidFill>
                  <a:srgbClr val="107C10"/>
                </a:solidFill>
              </a:defRPr>
            </a:pPr>
            <a:r>
              <a:t>→</a:t>
            </a:r>
          </a:p>
        </p:txBody>
      </p:sp>
      <p:sp>
        <p:nvSpPr>
          <p:cNvPr id="23" name="TextBox 22"/>
          <p:cNvSpPr txBox="1"/>
          <p:nvPr/>
        </p:nvSpPr>
        <p:spPr>
          <a:xfrm>
            <a:off x="9936327" y="3200399"/>
            <a:ext cx="1371600" cy="320040"/>
          </a:xfrm>
          <a:prstGeom prst="rect">
            <a:avLst/>
          </a:prstGeom>
          <a:noFill/>
        </p:spPr>
        <p:txBody>
          <a:bodyPr wrap="none">
            <a:spAutoFit/>
          </a:bodyPr>
          <a:lstStyle/>
          <a:p>
            <a:pPr algn="ctr">
              <a:defRPr sz="1100" b="1">
                <a:solidFill>
                  <a:srgbClr val="107C10"/>
                </a:solidFill>
              </a:defRPr>
            </a:pPr>
            <a:r>
              <a:t>Enterprise 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By The Numbers</a:t>
            </a:r>
          </a:p>
        </p:txBody>
      </p:sp>
      <p:sp>
        <p:nvSpPr>
          <p:cNvPr id="3" name="Rounded Rectangle 2"/>
          <p:cNvSpPr/>
          <p:nvPr/>
        </p:nvSpPr>
        <p:spPr>
          <a:xfrm>
            <a:off x="929487" y="1828800"/>
            <a:ext cx="3200400" cy="22860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9487" y="2103120"/>
            <a:ext cx="3200400" cy="914400"/>
          </a:xfrm>
          <a:prstGeom prst="rect">
            <a:avLst/>
          </a:prstGeom>
          <a:noFill/>
        </p:spPr>
        <p:txBody>
          <a:bodyPr wrap="none">
            <a:spAutoFit/>
          </a:bodyPr>
          <a:lstStyle/>
          <a:p>
            <a:pPr algn="ctr">
              <a:defRPr sz="4800" b="1">
                <a:solidFill>
                  <a:srgbClr val="FFFFFF"/>
                </a:solidFill>
              </a:defRPr>
            </a:pPr>
            <a:r>
              <a:t>7</a:t>
            </a:r>
          </a:p>
        </p:txBody>
      </p:sp>
      <p:sp>
        <p:nvSpPr>
          <p:cNvPr id="5" name="TextBox 4"/>
          <p:cNvSpPr txBox="1"/>
          <p:nvPr/>
        </p:nvSpPr>
        <p:spPr>
          <a:xfrm>
            <a:off x="929487" y="3108960"/>
            <a:ext cx="3200400" cy="457200"/>
          </a:xfrm>
          <a:prstGeom prst="rect">
            <a:avLst/>
          </a:prstGeom>
          <a:noFill/>
        </p:spPr>
        <p:txBody>
          <a:bodyPr wrap="square">
            <a:spAutoFit/>
          </a:bodyPr>
          <a:lstStyle/>
          <a:p>
            <a:pPr algn="ctr">
              <a:defRPr sz="1400" b="1">
                <a:solidFill>
                  <a:srgbClr val="FFFFFF"/>
                </a:solidFill>
              </a:defRPr>
            </a:pPr>
            <a:r>
              <a:t>AI Agents</a:t>
            </a:r>
          </a:p>
        </p:txBody>
      </p:sp>
      <p:sp>
        <p:nvSpPr>
          <p:cNvPr id="6" name="TextBox 5"/>
          <p:cNvSpPr txBox="1"/>
          <p:nvPr/>
        </p:nvSpPr>
        <p:spPr>
          <a:xfrm>
            <a:off x="1020927" y="3566160"/>
            <a:ext cx="3017520" cy="457200"/>
          </a:xfrm>
          <a:prstGeom prst="rect">
            <a:avLst/>
          </a:prstGeom>
          <a:noFill/>
        </p:spPr>
        <p:txBody>
          <a:bodyPr wrap="square">
            <a:spAutoFit/>
          </a:bodyPr>
          <a:lstStyle/>
          <a:p>
            <a:pPr algn="ctr">
              <a:defRPr sz="1000">
                <a:solidFill>
                  <a:srgbClr val="DCDCDC"/>
                </a:solidFill>
              </a:defRPr>
            </a:pPr>
            <a:r>
              <a:t>Working in coordination</a:t>
            </a:r>
          </a:p>
        </p:txBody>
      </p:sp>
      <p:sp>
        <p:nvSpPr>
          <p:cNvPr id="7" name="Rounded Rectangle 6"/>
          <p:cNvSpPr/>
          <p:nvPr/>
        </p:nvSpPr>
        <p:spPr>
          <a:xfrm>
            <a:off x="4495647" y="1828800"/>
            <a:ext cx="3200400" cy="22860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5647" y="2103120"/>
            <a:ext cx="3200400" cy="914400"/>
          </a:xfrm>
          <a:prstGeom prst="rect">
            <a:avLst/>
          </a:prstGeom>
          <a:noFill/>
        </p:spPr>
        <p:txBody>
          <a:bodyPr wrap="none">
            <a:spAutoFit/>
          </a:bodyPr>
          <a:lstStyle/>
          <a:p>
            <a:pPr algn="ctr">
              <a:defRPr sz="4800" b="1">
                <a:solidFill>
                  <a:srgbClr val="FFFFFF"/>
                </a:solidFill>
              </a:defRPr>
            </a:pPr>
            <a:r>
              <a:t>5</a:t>
            </a:r>
          </a:p>
        </p:txBody>
      </p:sp>
      <p:sp>
        <p:nvSpPr>
          <p:cNvPr id="9" name="TextBox 8"/>
          <p:cNvSpPr txBox="1"/>
          <p:nvPr/>
        </p:nvSpPr>
        <p:spPr>
          <a:xfrm>
            <a:off x="4495647" y="3108960"/>
            <a:ext cx="3200400" cy="457200"/>
          </a:xfrm>
          <a:prstGeom prst="rect">
            <a:avLst/>
          </a:prstGeom>
          <a:noFill/>
        </p:spPr>
        <p:txBody>
          <a:bodyPr wrap="square">
            <a:spAutoFit/>
          </a:bodyPr>
          <a:lstStyle/>
          <a:p>
            <a:pPr algn="ctr">
              <a:defRPr sz="1400" b="1">
                <a:solidFill>
                  <a:srgbClr val="FFFFFF"/>
                </a:solidFill>
              </a:defRPr>
            </a:pPr>
            <a:r>
              <a:t>Business Units</a:t>
            </a:r>
          </a:p>
        </p:txBody>
      </p:sp>
      <p:sp>
        <p:nvSpPr>
          <p:cNvPr id="10" name="TextBox 9"/>
          <p:cNvSpPr txBox="1"/>
          <p:nvPr/>
        </p:nvSpPr>
        <p:spPr>
          <a:xfrm>
            <a:off x="4587087" y="3566160"/>
            <a:ext cx="3017520" cy="457200"/>
          </a:xfrm>
          <a:prstGeom prst="rect">
            <a:avLst/>
          </a:prstGeom>
          <a:noFill/>
        </p:spPr>
        <p:txBody>
          <a:bodyPr wrap="square">
            <a:spAutoFit/>
          </a:bodyPr>
          <a:lstStyle/>
          <a:p>
            <a:pPr algn="ctr">
              <a:defRPr sz="1000">
                <a:solidFill>
                  <a:srgbClr val="DCDCDC"/>
                </a:solidFill>
              </a:defRPr>
            </a:pPr>
            <a:r>
              <a:t>Unified coverage</a:t>
            </a:r>
          </a:p>
        </p:txBody>
      </p:sp>
      <p:sp>
        <p:nvSpPr>
          <p:cNvPr id="11" name="Rounded Rectangle 10"/>
          <p:cNvSpPr/>
          <p:nvPr/>
        </p:nvSpPr>
        <p:spPr>
          <a:xfrm>
            <a:off x="8061807" y="1828800"/>
            <a:ext cx="3200400" cy="22860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61807" y="2103120"/>
            <a:ext cx="3200400" cy="914400"/>
          </a:xfrm>
          <a:prstGeom prst="rect">
            <a:avLst/>
          </a:prstGeom>
          <a:noFill/>
        </p:spPr>
        <p:txBody>
          <a:bodyPr wrap="none">
            <a:spAutoFit/>
          </a:bodyPr>
          <a:lstStyle/>
          <a:p>
            <a:pPr algn="ctr">
              <a:defRPr sz="4800" b="1">
                <a:solidFill>
                  <a:srgbClr val="FFFFFF"/>
                </a:solidFill>
              </a:defRPr>
            </a:pPr>
            <a:r>
              <a:t>44</a:t>
            </a:r>
          </a:p>
        </p:txBody>
      </p:sp>
      <p:sp>
        <p:nvSpPr>
          <p:cNvPr id="13" name="TextBox 12"/>
          <p:cNvSpPr txBox="1"/>
          <p:nvPr/>
        </p:nvSpPr>
        <p:spPr>
          <a:xfrm>
            <a:off x="8061807" y="3108960"/>
            <a:ext cx="3200400" cy="457200"/>
          </a:xfrm>
          <a:prstGeom prst="rect">
            <a:avLst/>
          </a:prstGeom>
          <a:noFill/>
        </p:spPr>
        <p:txBody>
          <a:bodyPr wrap="square">
            <a:spAutoFit/>
          </a:bodyPr>
          <a:lstStyle/>
          <a:p>
            <a:pPr algn="ctr">
              <a:defRPr sz="1400" b="1">
                <a:solidFill>
                  <a:srgbClr val="FFFFFF"/>
                </a:solidFill>
              </a:defRPr>
            </a:pPr>
            <a:r>
              <a:t>Unit Tests</a:t>
            </a:r>
          </a:p>
        </p:txBody>
      </p:sp>
      <p:sp>
        <p:nvSpPr>
          <p:cNvPr id="14" name="TextBox 13"/>
          <p:cNvSpPr txBox="1"/>
          <p:nvPr/>
        </p:nvSpPr>
        <p:spPr>
          <a:xfrm>
            <a:off x="8153247" y="3566160"/>
            <a:ext cx="3017520" cy="457200"/>
          </a:xfrm>
          <a:prstGeom prst="rect">
            <a:avLst/>
          </a:prstGeom>
          <a:noFill/>
        </p:spPr>
        <p:txBody>
          <a:bodyPr wrap="square">
            <a:spAutoFit/>
          </a:bodyPr>
          <a:lstStyle/>
          <a:p>
            <a:pPr algn="ctr">
              <a:defRPr sz="1000">
                <a:solidFill>
                  <a:srgbClr val="DCDCDC"/>
                </a:solidFill>
              </a:defRPr>
            </a:pPr>
            <a:r>
              <a:t>100% passing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914400"/>
          </a:xfrm>
          <a:prstGeom prst="rect">
            <a:avLst/>
          </a:prstGeom>
          <a:noFill/>
        </p:spPr>
        <p:txBody>
          <a:bodyPr wrap="square">
            <a:spAutoFit/>
          </a:bodyPr>
          <a:lstStyle/>
          <a:p>
            <a:pPr>
              <a:defRPr sz="3600">
                <a:solidFill>
                  <a:srgbClr val="323130"/>
                </a:solidFill>
                <a:latin typeface="Segoe UI Semibold"/>
              </a:defRPr>
            </a:pPr>
            <a:r>
              <a:t>System Architecture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latin typeface="Segoe UI Semibold"/>
              </a:rPr>
              <a:t>Three-Tier Agent Architecture</a:t>
            </a:r>
          </a:p>
        </p:txBody>
      </p:sp>
      <p:pic>
        <p:nvPicPr>
          <p:cNvPr id="3" name="Picture 2" descr="architecture_diagram.png"/>
          <p:cNvPicPr>
            <a:picLocks noChangeAspect="1"/>
          </p:cNvPicPr>
          <p:nvPr/>
        </p:nvPicPr>
        <p:blipFill>
          <a:blip r:embed="rId2"/>
          <a:stretch>
            <a:fillRect/>
          </a:stretch>
        </p:blipFill>
        <p:spPr>
          <a:xfrm>
            <a:off x="1524304" y="1188720"/>
            <a:ext cx="9144000" cy="10830445"/>
          </a:xfrm>
          <a:prstGeom prst="rect">
            <a:avLst/>
          </a:prstGeom>
        </p:spPr>
      </p:pic>
      <p:sp>
        <p:nvSpPr>
          <p:cNvPr id="4" name="TextBox 3"/>
          <p:cNvSpPr txBox="1"/>
          <p:nvPr/>
        </p:nvSpPr>
        <p:spPr>
          <a:xfrm>
            <a:off x="457200" y="6309360"/>
            <a:ext cx="11277295" cy="365760"/>
          </a:xfrm>
          <a:prstGeom prst="rect">
            <a:avLst/>
          </a:prstGeom>
          <a:noFill/>
        </p:spPr>
        <p:txBody>
          <a:bodyPr wrap="none">
            <a:spAutoFit/>
          </a:bodyPr>
          <a:lstStyle/>
          <a:p>
            <a:pPr algn="ctr">
              <a:defRPr sz="1200" i="1">
                <a:solidFill>
                  <a:srgbClr val="605E5C"/>
                </a:solidFill>
              </a:defRPr>
            </a:pPr>
            <a:r>
              <a:t>Level 0: Orchestrator | Level 2: Synthesizer | Level 1: 5 BU-Specific Agents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How the Tiers Work Together</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Level 0 (Orchestrator): Coordinates workflows, validates quality, manages errors</a:t>
            </a:r>
          </a:p>
          <a:p>
            <a:pPr>
              <a:spcAft>
                <a:spcPts val="1200"/>
              </a:spcAft>
              <a:defRPr sz="1800">
                <a:solidFill>
                  <a:srgbClr val="323130"/>
                </a:solidFill>
                <a:latin typeface="Segoe UI"/>
              </a:defRPr>
            </a:pPr>
            <a:r>
              <a:t>• Level 2 (Synthesizer): Aggregates all 5 BU reports, detects cross-BU patterns</a:t>
            </a:r>
          </a:p>
          <a:p>
            <a:pPr>
              <a:spcAft>
                <a:spcPts val="1200"/>
              </a:spcAft>
              <a:defRPr sz="1800">
                <a:solidFill>
                  <a:srgbClr val="323130"/>
                </a:solidFill>
                <a:latin typeface="Segoe UI"/>
              </a:defRPr>
            </a:pPr>
            <a:r>
              <a:t>• Level 1 (5 BU Agents): Category-specific intelligence gathering</a:t>
            </a:r>
          </a:p>
          <a:p>
            <a:pPr>
              <a:spcAft>
                <a:spcPts val="1200"/>
              </a:spcAft>
              <a:defRPr sz="1800">
                <a:solidFill>
                  <a:srgbClr val="323130"/>
                </a:solidFill>
                <a:latin typeface="Segoe UI"/>
              </a:defRPr>
            </a:pPr>
            <a:r>
              <a:t>• Cosmos DB: Stores all intelligence with versioning</a:t>
            </a:r>
          </a:p>
          <a:p>
            <a:pPr>
              <a:spcAft>
                <a:spcPts val="1200"/>
              </a:spcAft>
              <a:defRPr sz="1800">
                <a:solidFill>
                  <a:srgbClr val="323130"/>
                </a:solidFill>
                <a:latin typeface="Segoe UI"/>
              </a:defRPr>
            </a:pPr>
            <a:r>
              <a:t>• Azure OpenAI: Powers analysis and synthesis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914400"/>
          </a:xfrm>
          <a:prstGeom prst="rect">
            <a:avLst/>
          </a:prstGeom>
          <a:noFill/>
        </p:spPr>
        <p:txBody>
          <a:bodyPr wrap="square">
            <a:spAutoFit/>
          </a:bodyPr>
          <a:lstStyle/>
          <a:p>
            <a:pPr>
              <a:defRPr sz="3600">
                <a:solidFill>
                  <a:srgbClr val="323130"/>
                </a:solidFill>
                <a:latin typeface="Segoe UI Semibold"/>
              </a:defRPr>
            </a:pPr>
            <a:r>
              <a:t>The 7 Agents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Meet The 7 Agents</a:t>
            </a:r>
          </a:p>
        </p:txBody>
      </p:sp>
      <p:sp>
        <p:nvSpPr>
          <p:cNvPr id="3" name="Rounded Rectangle 2"/>
          <p:cNvSpPr/>
          <p:nvPr/>
        </p:nvSpPr>
        <p:spPr>
          <a:xfrm>
            <a:off x="563727" y="1188720"/>
            <a:ext cx="3566160" cy="1828800"/>
          </a:xfrm>
          <a:prstGeom prst="roundRect">
            <a:avLst/>
          </a:prstGeom>
          <a:solidFill>
            <a:srgbClr val="1199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5167" y="1280160"/>
            <a:ext cx="914400" cy="228600"/>
          </a:xfrm>
          <a:prstGeom prst="rect">
            <a:avLst/>
          </a:prstGeom>
          <a:noFill/>
        </p:spPr>
        <p:txBody>
          <a:bodyPr wrap="none">
            <a:spAutoFit/>
          </a:bodyPr>
          <a:lstStyle/>
          <a:p>
            <a:pPr>
              <a:defRPr sz="900" b="1">
                <a:solidFill>
                  <a:srgbClr val="FFFFFF"/>
                </a:solidFill>
              </a:defRPr>
            </a:pPr>
            <a:r>
              <a:t>LEVEL 0</a:t>
            </a:r>
          </a:p>
        </p:txBody>
      </p:sp>
      <p:sp>
        <p:nvSpPr>
          <p:cNvPr id="5" name="TextBox 4"/>
          <p:cNvSpPr txBox="1"/>
          <p:nvPr/>
        </p:nvSpPr>
        <p:spPr>
          <a:xfrm>
            <a:off x="655167" y="1554480"/>
            <a:ext cx="3383279" cy="365760"/>
          </a:xfrm>
          <a:prstGeom prst="rect">
            <a:avLst/>
          </a:prstGeom>
          <a:noFill/>
        </p:spPr>
        <p:txBody>
          <a:bodyPr wrap="square">
            <a:spAutoFit/>
          </a:bodyPr>
          <a:lstStyle/>
          <a:p>
            <a:pPr>
              <a:defRPr sz="1300" b="1">
                <a:solidFill>
                  <a:srgbClr val="FFFFFF"/>
                </a:solidFill>
              </a:defRPr>
            </a:pPr>
            <a:r>
              <a:t>CI Orchestrator</a:t>
            </a:r>
          </a:p>
        </p:txBody>
      </p:sp>
      <p:sp>
        <p:nvSpPr>
          <p:cNvPr id="6" name="TextBox 5"/>
          <p:cNvSpPr txBox="1"/>
          <p:nvPr/>
        </p:nvSpPr>
        <p:spPr>
          <a:xfrm>
            <a:off x="655167" y="1965960"/>
            <a:ext cx="3383279" cy="548640"/>
          </a:xfrm>
          <a:prstGeom prst="rect">
            <a:avLst/>
          </a:prstGeom>
          <a:noFill/>
        </p:spPr>
        <p:txBody>
          <a:bodyPr wrap="square">
            <a:spAutoFit/>
          </a:bodyPr>
          <a:lstStyle/>
          <a:p>
            <a:pPr>
              <a:defRPr sz="1000">
                <a:solidFill>
                  <a:srgbClr val="E6E6E6"/>
                </a:solidFill>
              </a:defRPr>
            </a:pPr>
            <a:r>
              <a:t>Coordinates workflows, validates quality, manages errors</a:t>
            </a:r>
          </a:p>
        </p:txBody>
      </p:sp>
      <p:sp>
        <p:nvSpPr>
          <p:cNvPr id="7" name="Rounded Rectangle 6"/>
          <p:cNvSpPr/>
          <p:nvPr/>
        </p:nvSpPr>
        <p:spPr>
          <a:xfrm>
            <a:off x="4312767" y="1188720"/>
            <a:ext cx="3566160" cy="1828800"/>
          </a:xfrm>
          <a:prstGeom prst="round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04207" y="1280160"/>
            <a:ext cx="914400" cy="228600"/>
          </a:xfrm>
          <a:prstGeom prst="rect">
            <a:avLst/>
          </a:prstGeom>
          <a:noFill/>
        </p:spPr>
        <p:txBody>
          <a:bodyPr wrap="none">
            <a:spAutoFit/>
          </a:bodyPr>
          <a:lstStyle/>
          <a:p>
            <a:pPr>
              <a:defRPr sz="900" b="1">
                <a:solidFill>
                  <a:srgbClr val="FFFFFF"/>
                </a:solidFill>
              </a:defRPr>
            </a:pPr>
            <a:r>
              <a:t>LEVEL 2</a:t>
            </a:r>
          </a:p>
        </p:txBody>
      </p:sp>
      <p:sp>
        <p:nvSpPr>
          <p:cNvPr id="9" name="TextBox 8"/>
          <p:cNvSpPr txBox="1"/>
          <p:nvPr/>
        </p:nvSpPr>
        <p:spPr>
          <a:xfrm>
            <a:off x="4404207" y="1554480"/>
            <a:ext cx="3383279" cy="365760"/>
          </a:xfrm>
          <a:prstGeom prst="rect">
            <a:avLst/>
          </a:prstGeom>
          <a:noFill/>
        </p:spPr>
        <p:txBody>
          <a:bodyPr wrap="square">
            <a:spAutoFit/>
          </a:bodyPr>
          <a:lstStyle/>
          <a:p>
            <a:pPr>
              <a:defRPr sz="1300" b="1">
                <a:solidFill>
                  <a:srgbClr val="FFFFFF"/>
                </a:solidFill>
              </a:defRPr>
            </a:pPr>
            <a:r>
              <a:t>Cross-BU Synthesizer</a:t>
            </a:r>
          </a:p>
        </p:txBody>
      </p:sp>
      <p:sp>
        <p:nvSpPr>
          <p:cNvPr id="10" name="TextBox 9"/>
          <p:cNvSpPr txBox="1"/>
          <p:nvPr/>
        </p:nvSpPr>
        <p:spPr>
          <a:xfrm>
            <a:off x="4404207" y="1965960"/>
            <a:ext cx="3383279" cy="548640"/>
          </a:xfrm>
          <a:prstGeom prst="rect">
            <a:avLst/>
          </a:prstGeom>
          <a:noFill/>
        </p:spPr>
        <p:txBody>
          <a:bodyPr wrap="square">
            <a:spAutoFit/>
          </a:bodyPr>
          <a:lstStyle/>
          <a:p>
            <a:pPr>
              <a:defRPr sz="1000">
                <a:solidFill>
                  <a:srgbClr val="E6E6E6"/>
                </a:solidFill>
              </a:defRPr>
            </a:pPr>
            <a:r>
              <a:t>Aggregates all BU reports, detects cross-BU patterns</a:t>
            </a:r>
          </a:p>
        </p:txBody>
      </p:sp>
      <p:sp>
        <p:nvSpPr>
          <p:cNvPr id="11" name="Rounded Rectangle 10"/>
          <p:cNvSpPr/>
          <p:nvPr/>
        </p:nvSpPr>
        <p:spPr>
          <a:xfrm>
            <a:off x="8061807" y="1188720"/>
            <a:ext cx="3566160" cy="18288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3247" y="1280160"/>
            <a:ext cx="914400" cy="228600"/>
          </a:xfrm>
          <a:prstGeom prst="rect">
            <a:avLst/>
          </a:prstGeom>
          <a:noFill/>
        </p:spPr>
        <p:txBody>
          <a:bodyPr wrap="none">
            <a:spAutoFit/>
          </a:bodyPr>
          <a:lstStyle/>
          <a:p>
            <a:pPr>
              <a:defRPr sz="900" b="1">
                <a:solidFill>
                  <a:srgbClr val="FFFFFF"/>
                </a:solidFill>
              </a:defRPr>
            </a:pPr>
            <a:r>
              <a:t>LEVEL 1</a:t>
            </a:r>
          </a:p>
        </p:txBody>
      </p:sp>
      <p:sp>
        <p:nvSpPr>
          <p:cNvPr id="13" name="TextBox 12"/>
          <p:cNvSpPr txBox="1"/>
          <p:nvPr/>
        </p:nvSpPr>
        <p:spPr>
          <a:xfrm>
            <a:off x="8153247" y="1554480"/>
            <a:ext cx="3383279" cy="365760"/>
          </a:xfrm>
          <a:prstGeom prst="rect">
            <a:avLst/>
          </a:prstGeom>
          <a:noFill/>
        </p:spPr>
        <p:txBody>
          <a:bodyPr wrap="square">
            <a:spAutoFit/>
          </a:bodyPr>
          <a:lstStyle/>
          <a:p>
            <a:pPr>
              <a:defRPr sz="1300" b="1">
                <a:solidFill>
                  <a:srgbClr val="FFFFFF"/>
                </a:solidFill>
              </a:defRPr>
            </a:pPr>
            <a:r>
              <a:t>Drains CI Agent</a:t>
            </a:r>
          </a:p>
        </p:txBody>
      </p:sp>
      <p:sp>
        <p:nvSpPr>
          <p:cNvPr id="14" name="TextBox 13"/>
          <p:cNvSpPr txBox="1"/>
          <p:nvPr/>
        </p:nvSpPr>
        <p:spPr>
          <a:xfrm>
            <a:off x="8153247" y="1965960"/>
            <a:ext cx="3383279" cy="548640"/>
          </a:xfrm>
          <a:prstGeom prst="rect">
            <a:avLst/>
          </a:prstGeom>
          <a:noFill/>
        </p:spPr>
        <p:txBody>
          <a:bodyPr wrap="square">
            <a:spAutoFit/>
          </a:bodyPr>
          <a:lstStyle/>
          <a:p>
            <a:pPr>
              <a:defRPr sz="1000">
                <a:solidFill>
                  <a:srgbClr val="E6E6E6"/>
                </a:solidFill>
              </a:defRPr>
            </a:pPr>
            <a:r>
              <a:t>Core Spec Drains, Siteworks, FOG Separation</a:t>
            </a:r>
          </a:p>
        </p:txBody>
      </p:sp>
      <p:sp>
        <p:nvSpPr>
          <p:cNvPr id="15" name="TextBox 14"/>
          <p:cNvSpPr txBox="1"/>
          <p:nvPr/>
        </p:nvSpPr>
        <p:spPr>
          <a:xfrm>
            <a:off x="8153247" y="2651760"/>
            <a:ext cx="3383279" cy="274320"/>
          </a:xfrm>
          <a:prstGeom prst="rect">
            <a:avLst/>
          </a:prstGeom>
          <a:noFill/>
        </p:spPr>
        <p:txBody>
          <a:bodyPr wrap="square">
            <a:spAutoFit/>
          </a:bodyPr>
          <a:lstStyle/>
          <a:p>
            <a:pPr>
              <a:defRPr sz="800">
                <a:solidFill>
                  <a:srgbClr val="C8C8C8"/>
                </a:solidFill>
              </a:defRPr>
            </a:pPr>
            <a:r>
              <a:t>JR Smith | Watts | MiFab</a:t>
            </a:r>
          </a:p>
        </p:txBody>
      </p:sp>
      <p:sp>
        <p:nvSpPr>
          <p:cNvPr id="16" name="Rounded Rectangle 15"/>
          <p:cNvSpPr/>
          <p:nvPr/>
        </p:nvSpPr>
        <p:spPr>
          <a:xfrm>
            <a:off x="563727" y="3200400"/>
            <a:ext cx="3566160" cy="18288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5167" y="3291840"/>
            <a:ext cx="914400" cy="228600"/>
          </a:xfrm>
          <a:prstGeom prst="rect">
            <a:avLst/>
          </a:prstGeom>
          <a:noFill/>
        </p:spPr>
        <p:txBody>
          <a:bodyPr wrap="none">
            <a:spAutoFit/>
          </a:bodyPr>
          <a:lstStyle/>
          <a:p>
            <a:pPr>
              <a:defRPr sz="900" b="1">
                <a:solidFill>
                  <a:srgbClr val="FFFFFF"/>
                </a:solidFill>
              </a:defRPr>
            </a:pPr>
            <a:r>
              <a:t>LEVEL 1</a:t>
            </a:r>
          </a:p>
        </p:txBody>
      </p:sp>
      <p:sp>
        <p:nvSpPr>
          <p:cNvPr id="18" name="TextBox 17"/>
          <p:cNvSpPr txBox="1"/>
          <p:nvPr/>
        </p:nvSpPr>
        <p:spPr>
          <a:xfrm>
            <a:off x="655167" y="3566160"/>
            <a:ext cx="3383279" cy="365760"/>
          </a:xfrm>
          <a:prstGeom prst="rect">
            <a:avLst/>
          </a:prstGeom>
          <a:noFill/>
        </p:spPr>
        <p:txBody>
          <a:bodyPr wrap="square">
            <a:spAutoFit/>
          </a:bodyPr>
          <a:lstStyle/>
          <a:p>
            <a:pPr>
              <a:defRPr sz="1300" b="1">
                <a:solidFill>
                  <a:srgbClr val="FFFFFF"/>
                </a:solidFill>
              </a:defRPr>
            </a:pPr>
            <a:r>
              <a:t>Wilkins CI Agent</a:t>
            </a:r>
          </a:p>
        </p:txBody>
      </p:sp>
      <p:sp>
        <p:nvSpPr>
          <p:cNvPr id="19" name="TextBox 18"/>
          <p:cNvSpPr txBox="1"/>
          <p:nvPr/>
        </p:nvSpPr>
        <p:spPr>
          <a:xfrm>
            <a:off x="655167" y="3977639"/>
            <a:ext cx="3383279" cy="548640"/>
          </a:xfrm>
          <a:prstGeom prst="rect">
            <a:avLst/>
          </a:prstGeom>
          <a:noFill/>
        </p:spPr>
        <p:txBody>
          <a:bodyPr wrap="square">
            <a:spAutoFit/>
          </a:bodyPr>
          <a:lstStyle/>
          <a:p>
            <a:pPr>
              <a:defRPr sz="1000">
                <a:solidFill>
                  <a:srgbClr val="E6E6E6"/>
                </a:solidFill>
              </a:defRPr>
            </a:pPr>
            <a:r>
              <a:t>Backflow Prevention, PRVs, TMVs</a:t>
            </a:r>
          </a:p>
        </p:txBody>
      </p:sp>
      <p:sp>
        <p:nvSpPr>
          <p:cNvPr id="20" name="TextBox 19"/>
          <p:cNvSpPr txBox="1"/>
          <p:nvPr/>
        </p:nvSpPr>
        <p:spPr>
          <a:xfrm>
            <a:off x="655167" y="4663440"/>
            <a:ext cx="3383279" cy="274320"/>
          </a:xfrm>
          <a:prstGeom prst="rect">
            <a:avLst/>
          </a:prstGeom>
          <a:noFill/>
        </p:spPr>
        <p:txBody>
          <a:bodyPr wrap="square">
            <a:spAutoFit/>
          </a:bodyPr>
          <a:lstStyle/>
          <a:p>
            <a:pPr>
              <a:defRPr sz="800">
                <a:solidFill>
                  <a:srgbClr val="C8C8C8"/>
                </a:solidFill>
              </a:defRPr>
            </a:pPr>
            <a:r>
              <a:t>Watts | Caleffi | Apollo</a:t>
            </a:r>
          </a:p>
        </p:txBody>
      </p:sp>
      <p:sp>
        <p:nvSpPr>
          <p:cNvPr id="21" name="Rounded Rectangle 20"/>
          <p:cNvSpPr/>
          <p:nvPr/>
        </p:nvSpPr>
        <p:spPr>
          <a:xfrm>
            <a:off x="4312767" y="3200400"/>
            <a:ext cx="3566160" cy="18288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04207" y="3291840"/>
            <a:ext cx="914400" cy="228600"/>
          </a:xfrm>
          <a:prstGeom prst="rect">
            <a:avLst/>
          </a:prstGeom>
          <a:noFill/>
        </p:spPr>
        <p:txBody>
          <a:bodyPr wrap="none">
            <a:spAutoFit/>
          </a:bodyPr>
          <a:lstStyle/>
          <a:p>
            <a:pPr>
              <a:defRPr sz="900" b="1">
                <a:solidFill>
                  <a:srgbClr val="FFFFFF"/>
                </a:solidFill>
              </a:defRPr>
            </a:pPr>
            <a:r>
              <a:t>LEVEL 1</a:t>
            </a:r>
          </a:p>
        </p:txBody>
      </p:sp>
      <p:sp>
        <p:nvSpPr>
          <p:cNvPr id="23" name="TextBox 22"/>
          <p:cNvSpPr txBox="1"/>
          <p:nvPr/>
        </p:nvSpPr>
        <p:spPr>
          <a:xfrm>
            <a:off x="4404207" y="3566160"/>
            <a:ext cx="3383279" cy="365760"/>
          </a:xfrm>
          <a:prstGeom prst="rect">
            <a:avLst/>
          </a:prstGeom>
          <a:noFill/>
        </p:spPr>
        <p:txBody>
          <a:bodyPr wrap="square">
            <a:spAutoFit/>
          </a:bodyPr>
          <a:lstStyle/>
          <a:p>
            <a:pPr>
              <a:defRPr sz="1300" b="1">
                <a:solidFill>
                  <a:srgbClr val="FFFFFF"/>
                </a:solidFill>
              </a:defRPr>
            </a:pPr>
            <a:r>
              <a:t>Drinking Water Agent</a:t>
            </a:r>
          </a:p>
        </p:txBody>
      </p:sp>
      <p:sp>
        <p:nvSpPr>
          <p:cNvPr id="24" name="TextBox 23"/>
          <p:cNvSpPr txBox="1"/>
          <p:nvPr/>
        </p:nvSpPr>
        <p:spPr>
          <a:xfrm>
            <a:off x="4404207" y="3977639"/>
            <a:ext cx="3383279" cy="548640"/>
          </a:xfrm>
          <a:prstGeom prst="rect">
            <a:avLst/>
          </a:prstGeom>
          <a:noFill/>
        </p:spPr>
        <p:txBody>
          <a:bodyPr wrap="square">
            <a:spAutoFit/>
          </a:bodyPr>
          <a:lstStyle/>
          <a:p>
            <a:pPr>
              <a:defRPr sz="1000">
                <a:solidFill>
                  <a:srgbClr val="E6E6E6"/>
                </a:solidFill>
              </a:defRPr>
            </a:pPr>
            <a:r>
              <a:t>Bottle Fillers, Filtration, NSF tracking</a:t>
            </a:r>
          </a:p>
        </p:txBody>
      </p:sp>
      <p:sp>
        <p:nvSpPr>
          <p:cNvPr id="25" name="TextBox 24"/>
          <p:cNvSpPr txBox="1"/>
          <p:nvPr/>
        </p:nvSpPr>
        <p:spPr>
          <a:xfrm>
            <a:off x="4404207" y="4663440"/>
            <a:ext cx="3383279" cy="274320"/>
          </a:xfrm>
          <a:prstGeom prst="rect">
            <a:avLst/>
          </a:prstGeom>
          <a:noFill/>
        </p:spPr>
        <p:txBody>
          <a:bodyPr wrap="square">
            <a:spAutoFit/>
          </a:bodyPr>
          <a:lstStyle/>
          <a:p>
            <a:pPr>
              <a:defRPr sz="800">
                <a:solidFill>
                  <a:srgbClr val="C8C8C8"/>
                </a:solidFill>
              </a:defRPr>
            </a:pPr>
            <a:r>
              <a:t>Elkay | Oasis | 3M</a:t>
            </a:r>
          </a:p>
        </p:txBody>
      </p:sp>
      <p:sp>
        <p:nvSpPr>
          <p:cNvPr id="26" name="Rounded Rectangle 25"/>
          <p:cNvSpPr/>
          <p:nvPr/>
        </p:nvSpPr>
        <p:spPr>
          <a:xfrm>
            <a:off x="8061807" y="3200400"/>
            <a:ext cx="3566160" cy="18288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53247" y="3291840"/>
            <a:ext cx="914400" cy="228600"/>
          </a:xfrm>
          <a:prstGeom prst="rect">
            <a:avLst/>
          </a:prstGeom>
          <a:noFill/>
        </p:spPr>
        <p:txBody>
          <a:bodyPr wrap="none">
            <a:spAutoFit/>
          </a:bodyPr>
          <a:lstStyle/>
          <a:p>
            <a:pPr>
              <a:defRPr sz="900" b="1">
                <a:solidFill>
                  <a:srgbClr val="FFFFFF"/>
                </a:solidFill>
              </a:defRPr>
            </a:pPr>
            <a:r>
              <a:t>LEVEL 1</a:t>
            </a:r>
          </a:p>
        </p:txBody>
      </p:sp>
      <p:sp>
        <p:nvSpPr>
          <p:cNvPr id="28" name="TextBox 27"/>
          <p:cNvSpPr txBox="1"/>
          <p:nvPr/>
        </p:nvSpPr>
        <p:spPr>
          <a:xfrm>
            <a:off x="8153247" y="3566160"/>
            <a:ext cx="3383279" cy="365760"/>
          </a:xfrm>
          <a:prstGeom prst="rect">
            <a:avLst/>
          </a:prstGeom>
          <a:noFill/>
        </p:spPr>
        <p:txBody>
          <a:bodyPr wrap="square">
            <a:spAutoFit/>
          </a:bodyPr>
          <a:lstStyle/>
          <a:p>
            <a:pPr>
              <a:defRPr sz="1300" b="1">
                <a:solidFill>
                  <a:srgbClr val="FFFFFF"/>
                </a:solidFill>
              </a:defRPr>
            </a:pPr>
            <a:r>
              <a:t>Sinks CI Agent</a:t>
            </a:r>
          </a:p>
        </p:txBody>
      </p:sp>
      <p:sp>
        <p:nvSpPr>
          <p:cNvPr id="29" name="TextBox 28"/>
          <p:cNvSpPr txBox="1"/>
          <p:nvPr/>
        </p:nvSpPr>
        <p:spPr>
          <a:xfrm>
            <a:off x="8153247" y="3977639"/>
            <a:ext cx="3383279" cy="548640"/>
          </a:xfrm>
          <a:prstGeom prst="rect">
            <a:avLst/>
          </a:prstGeom>
          <a:noFill/>
        </p:spPr>
        <p:txBody>
          <a:bodyPr wrap="square">
            <a:spAutoFit/>
          </a:bodyPr>
          <a:lstStyle/>
          <a:p>
            <a:pPr>
              <a:defRPr sz="1000">
                <a:solidFill>
                  <a:srgbClr val="E6E6E6"/>
                </a:solidFill>
              </a:defRPr>
            </a:pPr>
            <a:r>
              <a:t>Healthcare &amp; ADA sinks, Infection control</a:t>
            </a:r>
          </a:p>
        </p:txBody>
      </p:sp>
      <p:sp>
        <p:nvSpPr>
          <p:cNvPr id="30" name="TextBox 29"/>
          <p:cNvSpPr txBox="1"/>
          <p:nvPr/>
        </p:nvSpPr>
        <p:spPr>
          <a:xfrm>
            <a:off x="8153247" y="4663440"/>
            <a:ext cx="3383279" cy="274320"/>
          </a:xfrm>
          <a:prstGeom prst="rect">
            <a:avLst/>
          </a:prstGeom>
          <a:noFill/>
        </p:spPr>
        <p:txBody>
          <a:bodyPr wrap="square">
            <a:spAutoFit/>
          </a:bodyPr>
          <a:lstStyle/>
          <a:p>
            <a:pPr>
              <a:defRPr sz="800">
                <a:solidFill>
                  <a:srgbClr val="C8C8C8"/>
                </a:solidFill>
              </a:defRPr>
            </a:pPr>
            <a:r>
              <a:t>Just Mfg | T&amp;S | Kohler</a:t>
            </a:r>
          </a:p>
        </p:txBody>
      </p:sp>
      <p:sp>
        <p:nvSpPr>
          <p:cNvPr id="31" name="Rounded Rectangle 30"/>
          <p:cNvSpPr/>
          <p:nvPr/>
        </p:nvSpPr>
        <p:spPr>
          <a:xfrm>
            <a:off x="563727" y="5212080"/>
            <a:ext cx="3566160" cy="18288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5167" y="5303520"/>
            <a:ext cx="914400" cy="228600"/>
          </a:xfrm>
          <a:prstGeom prst="rect">
            <a:avLst/>
          </a:prstGeom>
          <a:noFill/>
        </p:spPr>
        <p:txBody>
          <a:bodyPr wrap="none">
            <a:spAutoFit/>
          </a:bodyPr>
          <a:lstStyle/>
          <a:p>
            <a:pPr>
              <a:defRPr sz="900" b="1">
                <a:solidFill>
                  <a:srgbClr val="FFFFFF"/>
                </a:solidFill>
              </a:defRPr>
            </a:pPr>
            <a:r>
              <a:t>LEVEL 1</a:t>
            </a:r>
          </a:p>
        </p:txBody>
      </p:sp>
      <p:sp>
        <p:nvSpPr>
          <p:cNvPr id="33" name="TextBox 32"/>
          <p:cNvSpPr txBox="1"/>
          <p:nvPr/>
        </p:nvSpPr>
        <p:spPr>
          <a:xfrm>
            <a:off x="655167" y="5577840"/>
            <a:ext cx="3383279" cy="365760"/>
          </a:xfrm>
          <a:prstGeom prst="rect">
            <a:avLst/>
          </a:prstGeom>
          <a:noFill/>
        </p:spPr>
        <p:txBody>
          <a:bodyPr wrap="square">
            <a:spAutoFit/>
          </a:bodyPr>
          <a:lstStyle/>
          <a:p>
            <a:pPr>
              <a:defRPr sz="1300" b="1">
                <a:solidFill>
                  <a:srgbClr val="FFFFFF"/>
                </a:solidFill>
              </a:defRPr>
            </a:pPr>
            <a:r>
              <a:t>Commercial Brass Agent</a:t>
            </a:r>
          </a:p>
        </p:txBody>
      </p:sp>
      <p:sp>
        <p:nvSpPr>
          <p:cNvPr id="34" name="TextBox 33"/>
          <p:cNvSpPr txBox="1"/>
          <p:nvPr/>
        </p:nvSpPr>
        <p:spPr>
          <a:xfrm>
            <a:off x="655167" y="5989320"/>
            <a:ext cx="3383279" cy="548640"/>
          </a:xfrm>
          <a:prstGeom prst="rect">
            <a:avLst/>
          </a:prstGeom>
          <a:noFill/>
        </p:spPr>
        <p:txBody>
          <a:bodyPr wrap="square">
            <a:spAutoFit/>
          </a:bodyPr>
          <a:lstStyle/>
          <a:p>
            <a:pPr>
              <a:defRPr sz="1000">
                <a:solidFill>
                  <a:srgbClr val="E6E6E6"/>
                </a:solidFill>
              </a:defRPr>
            </a:pPr>
            <a:r>
              <a:t>Flush Valves, Faucets, Touchless</a:t>
            </a:r>
          </a:p>
        </p:txBody>
      </p:sp>
      <p:sp>
        <p:nvSpPr>
          <p:cNvPr id="35" name="TextBox 34"/>
          <p:cNvSpPr txBox="1"/>
          <p:nvPr/>
        </p:nvSpPr>
        <p:spPr>
          <a:xfrm>
            <a:off x="655167" y="6675120"/>
            <a:ext cx="3383279" cy="274320"/>
          </a:xfrm>
          <a:prstGeom prst="rect">
            <a:avLst/>
          </a:prstGeom>
          <a:noFill/>
        </p:spPr>
        <p:txBody>
          <a:bodyPr wrap="square">
            <a:spAutoFit/>
          </a:bodyPr>
          <a:lstStyle/>
          <a:p>
            <a:pPr>
              <a:defRPr sz="800">
                <a:solidFill>
                  <a:srgbClr val="C8C8C8"/>
                </a:solidFill>
              </a:defRPr>
            </a:pPr>
            <a:r>
              <a:t>Sloan | Kohler | TOTO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Level 1: Drains &amp; Wilkins Agents</a:t>
            </a:r>
          </a:p>
        </p:txBody>
      </p:sp>
      <p:sp>
        <p:nvSpPr>
          <p:cNvPr id="3" name="TextBox 2"/>
          <p:cNvSpPr txBox="1"/>
          <p:nvPr/>
        </p:nvSpPr>
        <p:spPr>
          <a:xfrm>
            <a:off x="457200" y="1188720"/>
            <a:ext cx="5303520" cy="457200"/>
          </a:xfrm>
          <a:prstGeom prst="rect">
            <a:avLst/>
          </a:prstGeom>
          <a:noFill/>
        </p:spPr>
        <p:txBody>
          <a:bodyPr wrap="none">
            <a:spAutoFit/>
          </a:bodyPr>
          <a:lstStyle/>
          <a:p>
            <a:pPr>
              <a:defRPr sz="1800" b="1">
                <a:solidFill>
                  <a:srgbClr val="0078D4"/>
                </a:solidFill>
                <a:latin typeface="Segoe UI"/>
              </a:defRPr>
            </a:pPr>
            <a:r>
              <a:t>Drains CI Agent</a:t>
            </a:r>
          </a:p>
        </p:txBody>
      </p:sp>
      <p:sp>
        <p:nvSpPr>
          <p:cNvPr id="4" name="TextBox 3"/>
          <p:cNvSpPr txBox="1"/>
          <p:nvPr/>
        </p:nvSpPr>
        <p:spPr>
          <a:xfrm>
            <a:off x="6217920" y="1188720"/>
            <a:ext cx="5303520" cy="457200"/>
          </a:xfrm>
          <a:prstGeom prst="rect">
            <a:avLst/>
          </a:prstGeom>
          <a:noFill/>
        </p:spPr>
        <p:txBody>
          <a:bodyPr wrap="none">
            <a:spAutoFit/>
          </a:bodyPr>
          <a:lstStyle/>
          <a:p>
            <a:pPr>
              <a:defRPr sz="1800" b="1">
                <a:solidFill>
                  <a:srgbClr val="0078D4"/>
                </a:solidFill>
                <a:latin typeface="Segoe UI"/>
              </a:defRPr>
            </a:pPr>
            <a:r>
              <a:t>Wilkins CI Agent</a:t>
            </a:r>
          </a:p>
        </p:txBody>
      </p:sp>
      <p:sp>
        <p:nvSpPr>
          <p:cNvPr id="5" name="TextBox 4"/>
          <p:cNvSpPr txBox="1"/>
          <p:nvPr/>
        </p:nvSpPr>
        <p:spPr>
          <a:xfrm>
            <a:off x="457200" y="1737360"/>
            <a:ext cx="5303520" cy="4114800"/>
          </a:xfrm>
          <a:prstGeom prst="rect">
            <a:avLst/>
          </a:prstGeom>
          <a:noFill/>
        </p:spPr>
        <p:txBody>
          <a:bodyPr wrap="square">
            <a:spAutoFit/>
          </a:bodyPr>
          <a:lstStyle/>
          <a:p>
            <a:pPr>
              <a:spcAft>
                <a:spcPts val="1000"/>
              </a:spcAft>
              <a:defRPr sz="1600">
                <a:solidFill>
                  <a:srgbClr val="323130"/>
                </a:solidFill>
                <a:latin typeface="Segoe UI"/>
              </a:defRPr>
            </a:pPr>
            <a:r>
              <a:t>• Core Spec Drains analysis</a:t>
            </a:r>
          </a:p>
          <a:p>
            <a:pPr>
              <a:spcAft>
                <a:spcPts val="1000"/>
              </a:spcAft>
              <a:defRPr sz="1600">
                <a:solidFill>
                  <a:srgbClr val="323130"/>
                </a:solidFill>
                <a:latin typeface="Segoe UI"/>
              </a:defRPr>
            </a:pPr>
            <a:r>
              <a:t>• Siteworks &amp; FOG Separation</a:t>
            </a:r>
          </a:p>
          <a:p>
            <a:pPr>
              <a:spcAft>
                <a:spcPts val="1000"/>
              </a:spcAft>
              <a:defRPr sz="1600">
                <a:solidFill>
                  <a:srgbClr val="323130"/>
                </a:solidFill>
                <a:latin typeface="Segoe UI"/>
              </a:defRPr>
            </a:pPr>
            <a:r>
              <a:t>• Key Competitors:</a:t>
            </a:r>
          </a:p>
          <a:p>
            <a:pPr>
              <a:spcAft>
                <a:spcPts val="1000"/>
              </a:spcAft>
              <a:defRPr sz="1600">
                <a:solidFill>
                  <a:srgbClr val="323130"/>
                </a:solidFill>
                <a:latin typeface="Segoe UI"/>
              </a:defRPr>
            </a:pPr>
            <a:r>
              <a:t>•   • JR Smith, Watts</a:t>
            </a:r>
          </a:p>
          <a:p>
            <a:pPr>
              <a:spcAft>
                <a:spcPts val="1000"/>
              </a:spcAft>
              <a:defRPr sz="1600">
                <a:solidFill>
                  <a:srgbClr val="323130"/>
                </a:solidFill>
                <a:latin typeface="Segoe UI"/>
              </a:defRPr>
            </a:pPr>
            <a:r>
              <a:t>•   • MiFab, Schier</a:t>
            </a:r>
          </a:p>
        </p:txBody>
      </p:sp>
      <p:sp>
        <p:nvSpPr>
          <p:cNvPr id="6" name="TextBox 5"/>
          <p:cNvSpPr txBox="1"/>
          <p:nvPr/>
        </p:nvSpPr>
        <p:spPr>
          <a:xfrm>
            <a:off x="6217920" y="1737360"/>
            <a:ext cx="5303520" cy="4114800"/>
          </a:xfrm>
          <a:prstGeom prst="rect">
            <a:avLst/>
          </a:prstGeom>
          <a:noFill/>
        </p:spPr>
        <p:txBody>
          <a:bodyPr wrap="square">
            <a:spAutoFit/>
          </a:bodyPr>
          <a:lstStyle/>
          <a:p>
            <a:pPr>
              <a:spcAft>
                <a:spcPts val="1000"/>
              </a:spcAft>
              <a:defRPr sz="1600">
                <a:solidFill>
                  <a:srgbClr val="323130"/>
                </a:solidFill>
                <a:latin typeface="Segoe UI"/>
              </a:defRPr>
            </a:pPr>
            <a:r>
              <a:t>• Backflow Prevention &amp; PRVs</a:t>
            </a:r>
          </a:p>
          <a:p>
            <a:pPr>
              <a:spcAft>
                <a:spcPts val="1000"/>
              </a:spcAft>
              <a:defRPr sz="1600">
                <a:solidFill>
                  <a:srgbClr val="323130"/>
                </a:solidFill>
                <a:latin typeface="Segoe UI"/>
              </a:defRPr>
            </a:pPr>
            <a:r>
              <a:t>• TMVs with digital innovation focus</a:t>
            </a:r>
          </a:p>
          <a:p>
            <a:pPr>
              <a:spcAft>
                <a:spcPts val="1000"/>
              </a:spcAft>
              <a:defRPr sz="1600">
                <a:solidFill>
                  <a:srgbClr val="323130"/>
                </a:solidFill>
                <a:latin typeface="Segoe UI"/>
              </a:defRPr>
            </a:pPr>
            <a:r>
              <a:t>• Key Competitors:</a:t>
            </a:r>
          </a:p>
          <a:p>
            <a:pPr>
              <a:spcAft>
                <a:spcPts val="1000"/>
              </a:spcAft>
              <a:defRPr sz="1600">
                <a:solidFill>
                  <a:srgbClr val="323130"/>
                </a:solidFill>
                <a:latin typeface="Segoe UI"/>
              </a:defRPr>
            </a:pPr>
            <a:r>
              <a:t>•   • Watts, Caleffi</a:t>
            </a:r>
          </a:p>
          <a:p>
            <a:pPr>
              <a:spcAft>
                <a:spcPts val="1000"/>
              </a:spcAft>
              <a:defRPr sz="1600">
                <a:solidFill>
                  <a:srgbClr val="323130"/>
                </a:solidFill>
                <a:latin typeface="Segoe UI"/>
              </a:defRPr>
            </a:pPr>
            <a:r>
              <a:t>•   • Honeywell, Apollo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Level 1: Drinking Water &amp; Sinks Agents</a:t>
            </a:r>
          </a:p>
        </p:txBody>
      </p:sp>
      <p:sp>
        <p:nvSpPr>
          <p:cNvPr id="3" name="TextBox 2"/>
          <p:cNvSpPr txBox="1"/>
          <p:nvPr/>
        </p:nvSpPr>
        <p:spPr>
          <a:xfrm>
            <a:off x="457200" y="1188720"/>
            <a:ext cx="5303520" cy="457200"/>
          </a:xfrm>
          <a:prstGeom prst="rect">
            <a:avLst/>
          </a:prstGeom>
          <a:noFill/>
        </p:spPr>
        <p:txBody>
          <a:bodyPr wrap="none">
            <a:spAutoFit/>
          </a:bodyPr>
          <a:lstStyle/>
          <a:p>
            <a:pPr>
              <a:defRPr sz="1800" b="1">
                <a:solidFill>
                  <a:srgbClr val="0078D4"/>
                </a:solidFill>
                <a:latin typeface="Segoe UI"/>
              </a:defRPr>
            </a:pPr>
            <a:r>
              <a:t>Drinking Water CI Agent</a:t>
            </a:r>
          </a:p>
        </p:txBody>
      </p:sp>
      <p:sp>
        <p:nvSpPr>
          <p:cNvPr id="4" name="TextBox 3"/>
          <p:cNvSpPr txBox="1"/>
          <p:nvPr/>
        </p:nvSpPr>
        <p:spPr>
          <a:xfrm>
            <a:off x="6217920" y="1188720"/>
            <a:ext cx="5303520" cy="457200"/>
          </a:xfrm>
          <a:prstGeom prst="rect">
            <a:avLst/>
          </a:prstGeom>
          <a:noFill/>
        </p:spPr>
        <p:txBody>
          <a:bodyPr wrap="none">
            <a:spAutoFit/>
          </a:bodyPr>
          <a:lstStyle/>
          <a:p>
            <a:pPr>
              <a:defRPr sz="1800" b="1">
                <a:solidFill>
                  <a:srgbClr val="0078D4"/>
                </a:solidFill>
                <a:latin typeface="Segoe UI"/>
              </a:defRPr>
            </a:pPr>
            <a:r>
              <a:t>Sinks CI Agent</a:t>
            </a:r>
          </a:p>
        </p:txBody>
      </p:sp>
      <p:sp>
        <p:nvSpPr>
          <p:cNvPr id="5" name="TextBox 4"/>
          <p:cNvSpPr txBox="1"/>
          <p:nvPr/>
        </p:nvSpPr>
        <p:spPr>
          <a:xfrm>
            <a:off x="457200" y="1737360"/>
            <a:ext cx="5303520" cy="4114800"/>
          </a:xfrm>
          <a:prstGeom prst="rect">
            <a:avLst/>
          </a:prstGeom>
          <a:noFill/>
        </p:spPr>
        <p:txBody>
          <a:bodyPr wrap="square">
            <a:spAutoFit/>
          </a:bodyPr>
          <a:lstStyle/>
          <a:p>
            <a:pPr>
              <a:spcAft>
                <a:spcPts val="1000"/>
              </a:spcAft>
              <a:defRPr sz="1600">
                <a:solidFill>
                  <a:srgbClr val="323130"/>
                </a:solidFill>
                <a:latin typeface="Segoe UI"/>
              </a:defRPr>
            </a:pPr>
            <a:r>
              <a:t>• Bottle Fillers &amp; Filtration</a:t>
            </a:r>
          </a:p>
          <a:p>
            <a:pPr>
              <a:spcAft>
                <a:spcPts val="1000"/>
              </a:spcAft>
              <a:defRPr sz="1600">
                <a:solidFill>
                  <a:srgbClr val="323130"/>
                </a:solidFill>
                <a:latin typeface="Segoe UI"/>
              </a:defRPr>
            </a:pPr>
            <a:r>
              <a:t>• NSF certification tracking</a:t>
            </a:r>
          </a:p>
          <a:p>
            <a:pPr>
              <a:spcAft>
                <a:spcPts val="1000"/>
              </a:spcAft>
              <a:defRPr sz="1600">
                <a:solidFill>
                  <a:srgbClr val="323130"/>
                </a:solidFill>
                <a:latin typeface="Segoe UI"/>
              </a:defRPr>
            </a:pPr>
            <a:r>
              <a:t>• Key Competitors:</a:t>
            </a:r>
          </a:p>
          <a:p>
            <a:pPr>
              <a:spcAft>
                <a:spcPts val="1000"/>
              </a:spcAft>
              <a:defRPr sz="1600">
                <a:solidFill>
                  <a:srgbClr val="323130"/>
                </a:solidFill>
                <a:latin typeface="Segoe UI"/>
              </a:defRPr>
            </a:pPr>
            <a:r>
              <a:t>•   • Elkay, Oasis</a:t>
            </a:r>
          </a:p>
          <a:p>
            <a:pPr>
              <a:spcAft>
                <a:spcPts val="1000"/>
              </a:spcAft>
              <a:defRPr sz="1600">
                <a:solidFill>
                  <a:srgbClr val="323130"/>
                </a:solidFill>
                <a:latin typeface="Segoe UI"/>
              </a:defRPr>
            </a:pPr>
            <a:r>
              <a:t>•   • Halsey Taylor, 3M/Cuno</a:t>
            </a:r>
          </a:p>
        </p:txBody>
      </p:sp>
      <p:sp>
        <p:nvSpPr>
          <p:cNvPr id="6" name="TextBox 5"/>
          <p:cNvSpPr txBox="1"/>
          <p:nvPr/>
        </p:nvSpPr>
        <p:spPr>
          <a:xfrm>
            <a:off x="6217920" y="1737360"/>
            <a:ext cx="5303520" cy="4114800"/>
          </a:xfrm>
          <a:prstGeom prst="rect">
            <a:avLst/>
          </a:prstGeom>
          <a:noFill/>
        </p:spPr>
        <p:txBody>
          <a:bodyPr wrap="square">
            <a:spAutoFit/>
          </a:bodyPr>
          <a:lstStyle/>
          <a:p>
            <a:pPr>
              <a:spcAft>
                <a:spcPts val="1000"/>
              </a:spcAft>
              <a:defRPr sz="1600">
                <a:solidFill>
                  <a:srgbClr val="323130"/>
                </a:solidFill>
                <a:latin typeface="Segoe UI"/>
              </a:defRPr>
            </a:pPr>
            <a:r>
              <a:t>• Healthcare &amp; ADA sinks</a:t>
            </a:r>
          </a:p>
          <a:p>
            <a:pPr>
              <a:spcAft>
                <a:spcPts val="1000"/>
              </a:spcAft>
              <a:defRPr sz="1600">
                <a:solidFill>
                  <a:srgbClr val="323130"/>
                </a:solidFill>
                <a:latin typeface="Segoe UI"/>
              </a:defRPr>
            </a:pPr>
            <a:r>
              <a:t>• Infection control focus</a:t>
            </a:r>
          </a:p>
          <a:p>
            <a:pPr>
              <a:spcAft>
                <a:spcPts val="1000"/>
              </a:spcAft>
              <a:defRPr sz="1600">
                <a:solidFill>
                  <a:srgbClr val="323130"/>
                </a:solidFill>
                <a:latin typeface="Segoe UI"/>
              </a:defRPr>
            </a:pPr>
            <a:r>
              <a:t>• Key Competitors:</a:t>
            </a:r>
          </a:p>
          <a:p>
            <a:pPr>
              <a:spcAft>
                <a:spcPts val="1000"/>
              </a:spcAft>
              <a:defRPr sz="1600">
                <a:solidFill>
                  <a:srgbClr val="323130"/>
                </a:solidFill>
                <a:latin typeface="Segoe UI"/>
              </a:defRPr>
            </a:pPr>
            <a:r>
              <a:t>•   • Just Mfg, T&amp;S Brass</a:t>
            </a:r>
          </a:p>
          <a:p>
            <a:pPr>
              <a:spcAft>
                <a:spcPts val="1000"/>
              </a:spcAft>
              <a:defRPr sz="1600">
                <a:solidFill>
                  <a:srgbClr val="323130"/>
                </a:solidFill>
                <a:latin typeface="Segoe UI"/>
              </a:defRPr>
            </a:pPr>
            <a:r>
              <a:t>•   • Kohler, Bradley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Level 1: Commercial Brass CI Agent</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Products: Flush Valves, Faucets, Touchless Solutions</a:t>
            </a:r>
          </a:p>
          <a:p>
            <a:pPr>
              <a:spcAft>
                <a:spcPts val="1200"/>
              </a:spcAft>
              <a:defRPr sz="1800">
                <a:solidFill>
                  <a:srgbClr val="323130"/>
                </a:solidFill>
                <a:latin typeface="Segoe UI"/>
              </a:defRPr>
            </a:pPr>
            <a:r>
              <a:t>• Focus: Platform strategy tracking (Sloan Connect, Kohler Portfolio)</a:t>
            </a:r>
          </a:p>
          <a:p>
            <a:pPr>
              <a:spcAft>
                <a:spcPts val="1200"/>
              </a:spcAft>
              <a:defRPr sz="1800">
                <a:solidFill>
                  <a:srgbClr val="323130"/>
                </a:solidFill>
                <a:latin typeface="Segoe UI"/>
              </a:defRPr>
            </a:pPr>
            <a:r>
              <a:t>• Key Competitors: Sloan, Kohler, Bradley, TOTO</a:t>
            </a:r>
          </a:p>
          <a:p>
            <a:pPr>
              <a:spcAft>
                <a:spcPts val="1200"/>
              </a:spcAft>
              <a:defRPr sz="1800">
                <a:solidFill>
                  <a:srgbClr val="323130"/>
                </a:solidFill>
                <a:latin typeface="Segoe UI"/>
              </a:defRPr>
            </a:pPr>
            <a:r>
              <a:t>• Specialty: Digital integration and IoT capabilities</a:t>
            </a:r>
          </a:p>
          <a:p>
            <a:pPr>
              <a:spcAft>
                <a:spcPts val="1200"/>
              </a:spcAft>
              <a:defRPr sz="1800">
                <a:solidFill>
                  <a:srgbClr val="323130"/>
                </a:solidFill>
                <a:latin typeface="Segoe UI"/>
              </a:defRPr>
            </a:pPr>
            <a:r>
              <a:t>• Tracks: Sensor technology, water efficiency innovations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914400"/>
          </a:xfrm>
          <a:prstGeom prst="rect">
            <a:avLst/>
          </a:prstGeom>
          <a:noFill/>
        </p:spPr>
        <p:txBody>
          <a:bodyPr wrap="square">
            <a:spAutoFit/>
          </a:bodyPr>
          <a:lstStyle/>
          <a:p>
            <a:pPr>
              <a:defRPr sz="3600">
                <a:solidFill>
                  <a:srgbClr val="323130"/>
                </a:solidFill>
                <a:latin typeface="Segoe UI Semibold"/>
              </a:defRPr>
            </a:pPr>
            <a:r>
              <a:t>Demo Flow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Demo Flow Overview (30-45 min)</a:t>
            </a:r>
          </a:p>
        </p:txBody>
      </p:sp>
      <p:sp>
        <p:nvSpPr>
          <p:cNvPr id="3" name="Oval 2"/>
          <p:cNvSpPr/>
          <p:nvPr/>
        </p:nvSpPr>
        <p:spPr>
          <a:xfrm>
            <a:off x="-579272" y="2286000"/>
            <a:ext cx="548640" cy="5486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9272" y="2359152"/>
            <a:ext cx="548640" cy="457200"/>
          </a:xfrm>
          <a:prstGeom prst="rect">
            <a:avLst/>
          </a:prstGeom>
          <a:noFill/>
        </p:spPr>
        <p:txBody>
          <a:bodyPr wrap="none">
            <a:spAutoFit/>
          </a:bodyPr>
          <a:lstStyle/>
          <a:p>
            <a:pPr algn="ctr">
              <a:defRPr sz="1800" b="1">
                <a:solidFill>
                  <a:srgbClr val="FFFFFF"/>
                </a:solidFill>
              </a:defRPr>
            </a:pPr>
            <a:r>
              <a:t>1</a:t>
            </a:r>
          </a:p>
        </p:txBody>
      </p:sp>
      <p:sp>
        <p:nvSpPr>
          <p:cNvPr id="5" name="TextBox 4"/>
          <p:cNvSpPr txBox="1"/>
          <p:nvPr/>
        </p:nvSpPr>
        <p:spPr>
          <a:xfrm>
            <a:off x="-1219352" y="3017520"/>
            <a:ext cx="1828800" cy="548640"/>
          </a:xfrm>
          <a:prstGeom prst="rect">
            <a:avLst/>
          </a:prstGeom>
          <a:noFill/>
        </p:spPr>
        <p:txBody>
          <a:bodyPr wrap="square">
            <a:spAutoFit/>
          </a:bodyPr>
          <a:lstStyle/>
          <a:p>
            <a:pPr algn="ctr">
              <a:defRPr sz="1200" b="1">
                <a:solidFill>
                  <a:srgbClr val="0078D4"/>
                </a:solidFill>
              </a:defRPr>
            </a:pPr>
            <a:r>
              <a:t>Opening</a:t>
            </a:r>
          </a:p>
        </p:txBody>
      </p:sp>
      <p:sp>
        <p:nvSpPr>
          <p:cNvPr id="6" name="TextBox 5"/>
          <p:cNvSpPr txBox="1"/>
          <p:nvPr/>
        </p:nvSpPr>
        <p:spPr>
          <a:xfrm>
            <a:off x="-1219352" y="3566160"/>
            <a:ext cx="1828800" cy="731520"/>
          </a:xfrm>
          <a:prstGeom prst="rect">
            <a:avLst/>
          </a:prstGeom>
          <a:noFill/>
        </p:spPr>
        <p:txBody>
          <a:bodyPr wrap="square">
            <a:spAutoFit/>
          </a:bodyPr>
          <a:lstStyle/>
          <a:p>
            <a:pPr algn="ctr">
              <a:defRPr sz="900">
                <a:solidFill>
                  <a:srgbClr val="605E5C"/>
                </a:solidFill>
              </a:defRPr>
            </a:pPr>
            <a:r>
              <a:t>Context &amp; challenges</a:t>
            </a:r>
          </a:p>
        </p:txBody>
      </p:sp>
      <p:sp>
        <p:nvSpPr>
          <p:cNvPr id="7" name="TextBox 6"/>
          <p:cNvSpPr txBox="1"/>
          <p:nvPr/>
        </p:nvSpPr>
        <p:spPr>
          <a:xfrm>
            <a:off x="-670712" y="4297680"/>
            <a:ext cx="731520" cy="274320"/>
          </a:xfrm>
          <a:prstGeom prst="rect">
            <a:avLst/>
          </a:prstGeom>
          <a:noFill/>
        </p:spPr>
        <p:txBody>
          <a:bodyPr wrap="none">
            <a:spAutoFit/>
          </a:bodyPr>
          <a:lstStyle/>
          <a:p>
            <a:pPr algn="ctr">
              <a:defRPr sz="900" b="1">
                <a:solidFill>
                  <a:srgbClr val="FF8C00"/>
                </a:solidFill>
              </a:defRPr>
            </a:pPr>
            <a:r>
              <a:t>2 min</a:t>
            </a:r>
          </a:p>
        </p:txBody>
      </p:sp>
      <p:sp>
        <p:nvSpPr>
          <p:cNvPr id="8" name="TextBox 7"/>
          <p:cNvSpPr txBox="1"/>
          <p:nvPr/>
        </p:nvSpPr>
        <p:spPr>
          <a:xfrm>
            <a:off x="700887" y="3200400"/>
            <a:ext cx="548640" cy="457200"/>
          </a:xfrm>
          <a:prstGeom prst="rect">
            <a:avLst/>
          </a:prstGeom>
          <a:noFill/>
        </p:spPr>
        <p:txBody>
          <a:bodyPr wrap="none">
            <a:spAutoFit/>
          </a:bodyPr>
          <a:lstStyle/>
          <a:p>
            <a:pPr algn="ctr">
              <a:defRPr sz="2800" b="1">
                <a:solidFill>
                  <a:srgbClr val="0078D4"/>
                </a:solidFill>
              </a:defRPr>
            </a:pPr>
            <a:r>
              <a:t>→</a:t>
            </a:r>
          </a:p>
        </p:txBody>
      </p:sp>
      <p:sp>
        <p:nvSpPr>
          <p:cNvPr id="9" name="Oval 8"/>
          <p:cNvSpPr/>
          <p:nvPr/>
        </p:nvSpPr>
        <p:spPr>
          <a:xfrm>
            <a:off x="1981047" y="2286000"/>
            <a:ext cx="548640" cy="5486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81047" y="2359152"/>
            <a:ext cx="548640" cy="457200"/>
          </a:xfrm>
          <a:prstGeom prst="rect">
            <a:avLst/>
          </a:prstGeom>
          <a:noFill/>
        </p:spPr>
        <p:txBody>
          <a:bodyPr wrap="none">
            <a:spAutoFit/>
          </a:bodyPr>
          <a:lstStyle/>
          <a:p>
            <a:pPr algn="ctr">
              <a:defRPr sz="1800" b="1">
                <a:solidFill>
                  <a:srgbClr val="FFFFFF"/>
                </a:solidFill>
              </a:defRPr>
            </a:pPr>
            <a:r>
              <a:t>2</a:t>
            </a:r>
          </a:p>
        </p:txBody>
      </p:sp>
      <p:sp>
        <p:nvSpPr>
          <p:cNvPr id="11" name="TextBox 10"/>
          <p:cNvSpPr txBox="1"/>
          <p:nvPr/>
        </p:nvSpPr>
        <p:spPr>
          <a:xfrm>
            <a:off x="1340967" y="3017520"/>
            <a:ext cx="1828800" cy="548640"/>
          </a:xfrm>
          <a:prstGeom prst="rect">
            <a:avLst/>
          </a:prstGeom>
          <a:noFill/>
        </p:spPr>
        <p:txBody>
          <a:bodyPr wrap="square">
            <a:spAutoFit/>
          </a:bodyPr>
          <a:lstStyle/>
          <a:p>
            <a:pPr algn="ctr">
              <a:defRPr sz="1200" b="1">
                <a:solidFill>
                  <a:srgbClr val="0078D4"/>
                </a:solidFill>
              </a:defRPr>
            </a:pPr>
            <a:r>
              <a:t>Architecture</a:t>
            </a:r>
          </a:p>
        </p:txBody>
      </p:sp>
      <p:sp>
        <p:nvSpPr>
          <p:cNvPr id="12" name="TextBox 11"/>
          <p:cNvSpPr txBox="1"/>
          <p:nvPr/>
        </p:nvSpPr>
        <p:spPr>
          <a:xfrm>
            <a:off x="1340967" y="3566160"/>
            <a:ext cx="1828800" cy="731520"/>
          </a:xfrm>
          <a:prstGeom prst="rect">
            <a:avLst/>
          </a:prstGeom>
          <a:noFill/>
        </p:spPr>
        <p:txBody>
          <a:bodyPr wrap="square">
            <a:spAutoFit/>
          </a:bodyPr>
          <a:lstStyle/>
          <a:p>
            <a:pPr algn="ctr">
              <a:defRPr sz="900">
                <a:solidFill>
                  <a:srgbClr val="605E5C"/>
                </a:solidFill>
              </a:defRPr>
            </a:pPr>
            <a:r>
              <a:t>Three-tier overview</a:t>
            </a:r>
          </a:p>
        </p:txBody>
      </p:sp>
      <p:sp>
        <p:nvSpPr>
          <p:cNvPr id="13" name="TextBox 12"/>
          <p:cNvSpPr txBox="1"/>
          <p:nvPr/>
        </p:nvSpPr>
        <p:spPr>
          <a:xfrm>
            <a:off x="1889607" y="4297680"/>
            <a:ext cx="731520" cy="274320"/>
          </a:xfrm>
          <a:prstGeom prst="rect">
            <a:avLst/>
          </a:prstGeom>
          <a:noFill/>
        </p:spPr>
        <p:txBody>
          <a:bodyPr wrap="none">
            <a:spAutoFit/>
          </a:bodyPr>
          <a:lstStyle/>
          <a:p>
            <a:pPr algn="ctr">
              <a:defRPr sz="900" b="1">
                <a:solidFill>
                  <a:srgbClr val="FF8C00"/>
                </a:solidFill>
              </a:defRPr>
            </a:pPr>
            <a:r>
              <a:t>3 min</a:t>
            </a:r>
          </a:p>
        </p:txBody>
      </p:sp>
      <p:sp>
        <p:nvSpPr>
          <p:cNvPr id="14" name="TextBox 13"/>
          <p:cNvSpPr txBox="1"/>
          <p:nvPr/>
        </p:nvSpPr>
        <p:spPr>
          <a:xfrm>
            <a:off x="3261207" y="3200400"/>
            <a:ext cx="548640" cy="457200"/>
          </a:xfrm>
          <a:prstGeom prst="rect">
            <a:avLst/>
          </a:prstGeom>
          <a:noFill/>
        </p:spPr>
        <p:txBody>
          <a:bodyPr wrap="none">
            <a:spAutoFit/>
          </a:bodyPr>
          <a:lstStyle/>
          <a:p>
            <a:pPr algn="ctr">
              <a:defRPr sz="2800" b="1">
                <a:solidFill>
                  <a:srgbClr val="0078D4"/>
                </a:solidFill>
              </a:defRPr>
            </a:pPr>
            <a:r>
              <a:t>→</a:t>
            </a:r>
          </a:p>
        </p:txBody>
      </p:sp>
      <p:sp>
        <p:nvSpPr>
          <p:cNvPr id="15" name="Oval 14"/>
          <p:cNvSpPr/>
          <p:nvPr/>
        </p:nvSpPr>
        <p:spPr>
          <a:xfrm>
            <a:off x="4541367" y="2286000"/>
            <a:ext cx="548640" cy="5486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1367" y="2359152"/>
            <a:ext cx="548640" cy="457200"/>
          </a:xfrm>
          <a:prstGeom prst="rect">
            <a:avLst/>
          </a:prstGeom>
          <a:noFill/>
        </p:spPr>
        <p:txBody>
          <a:bodyPr wrap="none">
            <a:spAutoFit/>
          </a:bodyPr>
          <a:lstStyle/>
          <a:p>
            <a:pPr algn="ctr">
              <a:defRPr sz="1800" b="1">
                <a:solidFill>
                  <a:srgbClr val="FFFFFF"/>
                </a:solidFill>
              </a:defRPr>
            </a:pPr>
            <a:r>
              <a:t>3</a:t>
            </a:r>
          </a:p>
        </p:txBody>
      </p:sp>
      <p:sp>
        <p:nvSpPr>
          <p:cNvPr id="17" name="TextBox 16"/>
          <p:cNvSpPr txBox="1"/>
          <p:nvPr/>
        </p:nvSpPr>
        <p:spPr>
          <a:xfrm>
            <a:off x="3901287" y="3017520"/>
            <a:ext cx="1828800" cy="548640"/>
          </a:xfrm>
          <a:prstGeom prst="rect">
            <a:avLst/>
          </a:prstGeom>
          <a:noFill/>
        </p:spPr>
        <p:txBody>
          <a:bodyPr wrap="square">
            <a:spAutoFit/>
          </a:bodyPr>
          <a:lstStyle/>
          <a:p>
            <a:pPr algn="ctr">
              <a:defRPr sz="1200" b="1">
                <a:solidFill>
                  <a:srgbClr val="0078D4"/>
                </a:solidFill>
              </a:defRPr>
            </a:pPr>
            <a:r>
              <a:t>Drains Demo</a:t>
            </a:r>
          </a:p>
        </p:txBody>
      </p:sp>
      <p:sp>
        <p:nvSpPr>
          <p:cNvPr id="18" name="TextBox 17"/>
          <p:cNvSpPr txBox="1"/>
          <p:nvPr/>
        </p:nvSpPr>
        <p:spPr>
          <a:xfrm>
            <a:off x="3901287" y="3566160"/>
            <a:ext cx="1828800" cy="731520"/>
          </a:xfrm>
          <a:prstGeom prst="rect">
            <a:avLst/>
          </a:prstGeom>
          <a:noFill/>
        </p:spPr>
        <p:txBody>
          <a:bodyPr wrap="square">
            <a:spAutoFit/>
          </a:bodyPr>
          <a:lstStyle/>
          <a:p>
            <a:pPr algn="ctr">
              <a:defRPr sz="900">
                <a:solidFill>
                  <a:srgbClr val="605E5C"/>
                </a:solidFill>
              </a:defRPr>
            </a:pPr>
            <a:r>
              <a:t>Live quarterly analysis</a:t>
            </a:r>
          </a:p>
        </p:txBody>
      </p:sp>
      <p:sp>
        <p:nvSpPr>
          <p:cNvPr id="19" name="TextBox 18"/>
          <p:cNvSpPr txBox="1"/>
          <p:nvPr/>
        </p:nvSpPr>
        <p:spPr>
          <a:xfrm>
            <a:off x="4449927" y="4297680"/>
            <a:ext cx="731520" cy="274320"/>
          </a:xfrm>
          <a:prstGeom prst="rect">
            <a:avLst/>
          </a:prstGeom>
          <a:noFill/>
        </p:spPr>
        <p:txBody>
          <a:bodyPr wrap="none">
            <a:spAutoFit/>
          </a:bodyPr>
          <a:lstStyle/>
          <a:p>
            <a:pPr algn="ctr">
              <a:defRPr sz="900" b="1">
                <a:solidFill>
                  <a:srgbClr val="FF8C00"/>
                </a:solidFill>
              </a:defRPr>
            </a:pPr>
            <a:r>
              <a:t>8 min</a:t>
            </a:r>
          </a:p>
        </p:txBody>
      </p:sp>
      <p:sp>
        <p:nvSpPr>
          <p:cNvPr id="20" name="TextBox 19"/>
          <p:cNvSpPr txBox="1"/>
          <p:nvPr/>
        </p:nvSpPr>
        <p:spPr>
          <a:xfrm>
            <a:off x="5821527" y="3200400"/>
            <a:ext cx="548640" cy="457200"/>
          </a:xfrm>
          <a:prstGeom prst="rect">
            <a:avLst/>
          </a:prstGeom>
          <a:noFill/>
        </p:spPr>
        <p:txBody>
          <a:bodyPr wrap="none">
            <a:spAutoFit/>
          </a:bodyPr>
          <a:lstStyle/>
          <a:p>
            <a:pPr algn="ctr">
              <a:defRPr sz="2800" b="1">
                <a:solidFill>
                  <a:srgbClr val="0078D4"/>
                </a:solidFill>
              </a:defRPr>
            </a:pPr>
            <a:r>
              <a:t>→</a:t>
            </a:r>
          </a:p>
        </p:txBody>
      </p:sp>
      <p:sp>
        <p:nvSpPr>
          <p:cNvPr id="21" name="Oval 20"/>
          <p:cNvSpPr/>
          <p:nvPr/>
        </p:nvSpPr>
        <p:spPr>
          <a:xfrm>
            <a:off x="7101687" y="2286000"/>
            <a:ext cx="548640" cy="5486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01687" y="2359152"/>
            <a:ext cx="548640" cy="457200"/>
          </a:xfrm>
          <a:prstGeom prst="rect">
            <a:avLst/>
          </a:prstGeom>
          <a:noFill/>
        </p:spPr>
        <p:txBody>
          <a:bodyPr wrap="none">
            <a:spAutoFit/>
          </a:bodyPr>
          <a:lstStyle/>
          <a:p>
            <a:pPr algn="ctr">
              <a:defRPr sz="1800" b="1">
                <a:solidFill>
                  <a:srgbClr val="FFFFFF"/>
                </a:solidFill>
              </a:defRPr>
            </a:pPr>
            <a:r>
              <a:t>4</a:t>
            </a:r>
          </a:p>
        </p:txBody>
      </p:sp>
      <p:sp>
        <p:nvSpPr>
          <p:cNvPr id="23" name="TextBox 22"/>
          <p:cNvSpPr txBox="1"/>
          <p:nvPr/>
        </p:nvSpPr>
        <p:spPr>
          <a:xfrm>
            <a:off x="6461607" y="3017520"/>
            <a:ext cx="1828800" cy="548640"/>
          </a:xfrm>
          <a:prstGeom prst="rect">
            <a:avLst/>
          </a:prstGeom>
          <a:noFill/>
        </p:spPr>
        <p:txBody>
          <a:bodyPr wrap="square">
            <a:spAutoFit/>
          </a:bodyPr>
          <a:lstStyle/>
          <a:p>
            <a:pPr algn="ctr">
              <a:defRPr sz="1200" b="1">
                <a:solidFill>
                  <a:srgbClr val="0078D4"/>
                </a:solidFill>
              </a:defRPr>
            </a:pPr>
            <a:r>
              <a:t>Other BUs</a:t>
            </a:r>
          </a:p>
        </p:txBody>
      </p:sp>
      <p:sp>
        <p:nvSpPr>
          <p:cNvPr id="24" name="TextBox 23"/>
          <p:cNvSpPr txBox="1"/>
          <p:nvPr/>
        </p:nvSpPr>
        <p:spPr>
          <a:xfrm>
            <a:off x="6461607" y="3566160"/>
            <a:ext cx="1828800" cy="731520"/>
          </a:xfrm>
          <a:prstGeom prst="rect">
            <a:avLst/>
          </a:prstGeom>
          <a:noFill/>
        </p:spPr>
        <p:txBody>
          <a:bodyPr wrap="square">
            <a:spAutoFit/>
          </a:bodyPr>
          <a:lstStyle/>
          <a:p>
            <a:pPr algn="ctr">
              <a:defRPr sz="900">
                <a:solidFill>
                  <a:srgbClr val="605E5C"/>
                </a:solidFill>
              </a:defRPr>
            </a:pPr>
            <a:r>
              <a:t>Wilkins, Drinking, Sinks, Brass</a:t>
            </a:r>
          </a:p>
        </p:txBody>
      </p:sp>
      <p:sp>
        <p:nvSpPr>
          <p:cNvPr id="25" name="TextBox 24"/>
          <p:cNvSpPr txBox="1"/>
          <p:nvPr/>
        </p:nvSpPr>
        <p:spPr>
          <a:xfrm>
            <a:off x="7010247" y="4297680"/>
            <a:ext cx="731520" cy="274320"/>
          </a:xfrm>
          <a:prstGeom prst="rect">
            <a:avLst/>
          </a:prstGeom>
          <a:noFill/>
        </p:spPr>
        <p:txBody>
          <a:bodyPr wrap="none">
            <a:spAutoFit/>
          </a:bodyPr>
          <a:lstStyle/>
          <a:p>
            <a:pPr algn="ctr">
              <a:defRPr sz="900" b="1">
                <a:solidFill>
                  <a:srgbClr val="FF8C00"/>
                </a:solidFill>
              </a:defRPr>
            </a:pPr>
            <a:r>
              <a:t>18 min</a:t>
            </a:r>
          </a:p>
        </p:txBody>
      </p:sp>
      <p:sp>
        <p:nvSpPr>
          <p:cNvPr id="26" name="TextBox 25"/>
          <p:cNvSpPr txBox="1"/>
          <p:nvPr/>
        </p:nvSpPr>
        <p:spPr>
          <a:xfrm>
            <a:off x="8381847" y="3200400"/>
            <a:ext cx="548640" cy="457200"/>
          </a:xfrm>
          <a:prstGeom prst="rect">
            <a:avLst/>
          </a:prstGeom>
          <a:noFill/>
        </p:spPr>
        <p:txBody>
          <a:bodyPr wrap="none">
            <a:spAutoFit/>
          </a:bodyPr>
          <a:lstStyle/>
          <a:p>
            <a:pPr algn="ctr">
              <a:defRPr sz="2800" b="1">
                <a:solidFill>
                  <a:srgbClr val="0078D4"/>
                </a:solidFill>
              </a:defRPr>
            </a:pPr>
            <a:r>
              <a:t>→</a:t>
            </a:r>
          </a:p>
        </p:txBody>
      </p:sp>
      <p:sp>
        <p:nvSpPr>
          <p:cNvPr id="27" name="Oval 26"/>
          <p:cNvSpPr/>
          <p:nvPr/>
        </p:nvSpPr>
        <p:spPr>
          <a:xfrm>
            <a:off x="9662007" y="2286000"/>
            <a:ext cx="548640" cy="5486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62007" y="2359152"/>
            <a:ext cx="548640" cy="457200"/>
          </a:xfrm>
          <a:prstGeom prst="rect">
            <a:avLst/>
          </a:prstGeom>
          <a:noFill/>
        </p:spPr>
        <p:txBody>
          <a:bodyPr wrap="none">
            <a:spAutoFit/>
          </a:bodyPr>
          <a:lstStyle/>
          <a:p>
            <a:pPr algn="ctr">
              <a:defRPr sz="1800" b="1">
                <a:solidFill>
                  <a:srgbClr val="FFFFFF"/>
                </a:solidFill>
              </a:defRPr>
            </a:pPr>
            <a:r>
              <a:t>5</a:t>
            </a:r>
          </a:p>
        </p:txBody>
      </p:sp>
      <p:sp>
        <p:nvSpPr>
          <p:cNvPr id="29" name="TextBox 28"/>
          <p:cNvSpPr txBox="1"/>
          <p:nvPr/>
        </p:nvSpPr>
        <p:spPr>
          <a:xfrm>
            <a:off x="9021927" y="3017520"/>
            <a:ext cx="1828800" cy="548640"/>
          </a:xfrm>
          <a:prstGeom prst="rect">
            <a:avLst/>
          </a:prstGeom>
          <a:noFill/>
        </p:spPr>
        <p:txBody>
          <a:bodyPr wrap="square">
            <a:spAutoFit/>
          </a:bodyPr>
          <a:lstStyle/>
          <a:p>
            <a:pPr algn="ctr">
              <a:defRPr sz="1200" b="1">
                <a:solidFill>
                  <a:srgbClr val="0078D4"/>
                </a:solidFill>
              </a:defRPr>
            </a:pPr>
            <a:r>
              <a:t>Synthesis</a:t>
            </a:r>
          </a:p>
        </p:txBody>
      </p:sp>
      <p:sp>
        <p:nvSpPr>
          <p:cNvPr id="30" name="TextBox 29"/>
          <p:cNvSpPr txBox="1"/>
          <p:nvPr/>
        </p:nvSpPr>
        <p:spPr>
          <a:xfrm>
            <a:off x="9021927" y="3566160"/>
            <a:ext cx="1828800" cy="731520"/>
          </a:xfrm>
          <a:prstGeom prst="rect">
            <a:avLst/>
          </a:prstGeom>
          <a:noFill/>
        </p:spPr>
        <p:txBody>
          <a:bodyPr wrap="square">
            <a:spAutoFit/>
          </a:bodyPr>
          <a:lstStyle/>
          <a:p>
            <a:pPr algn="ctr">
              <a:defRPr sz="900">
                <a:solidFill>
                  <a:srgbClr val="605E5C"/>
                </a:solidFill>
              </a:defRPr>
            </a:pPr>
            <a:r>
              <a:t>Cross-BU aggregation</a:t>
            </a:r>
          </a:p>
        </p:txBody>
      </p:sp>
      <p:sp>
        <p:nvSpPr>
          <p:cNvPr id="31" name="TextBox 30"/>
          <p:cNvSpPr txBox="1"/>
          <p:nvPr/>
        </p:nvSpPr>
        <p:spPr>
          <a:xfrm>
            <a:off x="9570567" y="4297680"/>
            <a:ext cx="731520" cy="274320"/>
          </a:xfrm>
          <a:prstGeom prst="rect">
            <a:avLst/>
          </a:prstGeom>
          <a:noFill/>
        </p:spPr>
        <p:txBody>
          <a:bodyPr wrap="none">
            <a:spAutoFit/>
          </a:bodyPr>
          <a:lstStyle/>
          <a:p>
            <a:pPr algn="ctr">
              <a:defRPr sz="900" b="1">
                <a:solidFill>
                  <a:srgbClr val="FF8C00"/>
                </a:solidFill>
              </a:defRPr>
            </a:pPr>
            <a:r>
              <a:t>5 min</a:t>
            </a:r>
          </a:p>
        </p:txBody>
      </p:sp>
      <p:sp>
        <p:nvSpPr>
          <p:cNvPr id="32" name="TextBox 31"/>
          <p:cNvSpPr txBox="1"/>
          <p:nvPr/>
        </p:nvSpPr>
        <p:spPr>
          <a:xfrm>
            <a:off x="10942167" y="3200400"/>
            <a:ext cx="548640" cy="457200"/>
          </a:xfrm>
          <a:prstGeom prst="rect">
            <a:avLst/>
          </a:prstGeom>
          <a:noFill/>
        </p:spPr>
        <p:txBody>
          <a:bodyPr wrap="none">
            <a:spAutoFit/>
          </a:bodyPr>
          <a:lstStyle/>
          <a:p>
            <a:pPr algn="ctr">
              <a:defRPr sz="2800" b="1">
                <a:solidFill>
                  <a:srgbClr val="0078D4"/>
                </a:solidFill>
              </a:defRPr>
            </a:pPr>
            <a:r>
              <a:t>→</a:t>
            </a:r>
          </a:p>
        </p:txBody>
      </p:sp>
      <p:sp>
        <p:nvSpPr>
          <p:cNvPr id="33" name="Oval 32"/>
          <p:cNvSpPr/>
          <p:nvPr/>
        </p:nvSpPr>
        <p:spPr>
          <a:xfrm>
            <a:off x="12222327" y="2286000"/>
            <a:ext cx="548640" cy="5486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222327" y="2359152"/>
            <a:ext cx="548640" cy="457200"/>
          </a:xfrm>
          <a:prstGeom prst="rect">
            <a:avLst/>
          </a:prstGeom>
          <a:noFill/>
        </p:spPr>
        <p:txBody>
          <a:bodyPr wrap="none">
            <a:spAutoFit/>
          </a:bodyPr>
          <a:lstStyle/>
          <a:p>
            <a:pPr algn="ctr">
              <a:defRPr sz="1800" b="1">
                <a:solidFill>
                  <a:srgbClr val="FFFFFF"/>
                </a:solidFill>
              </a:defRPr>
            </a:pPr>
            <a:r>
              <a:t>6</a:t>
            </a:r>
          </a:p>
        </p:txBody>
      </p:sp>
      <p:sp>
        <p:nvSpPr>
          <p:cNvPr id="35" name="TextBox 34"/>
          <p:cNvSpPr txBox="1"/>
          <p:nvPr/>
        </p:nvSpPr>
        <p:spPr>
          <a:xfrm>
            <a:off x="11582247" y="3017520"/>
            <a:ext cx="1828800" cy="548640"/>
          </a:xfrm>
          <a:prstGeom prst="rect">
            <a:avLst/>
          </a:prstGeom>
          <a:noFill/>
        </p:spPr>
        <p:txBody>
          <a:bodyPr wrap="square">
            <a:spAutoFit/>
          </a:bodyPr>
          <a:lstStyle/>
          <a:p>
            <a:pPr algn="ctr">
              <a:defRPr sz="1200" b="1">
                <a:solidFill>
                  <a:srgbClr val="0078D4"/>
                </a:solidFill>
              </a:defRPr>
            </a:pPr>
            <a:r>
              <a:t>Close</a:t>
            </a:r>
          </a:p>
        </p:txBody>
      </p:sp>
      <p:sp>
        <p:nvSpPr>
          <p:cNvPr id="36" name="TextBox 35"/>
          <p:cNvSpPr txBox="1"/>
          <p:nvPr/>
        </p:nvSpPr>
        <p:spPr>
          <a:xfrm>
            <a:off x="11582247" y="3566160"/>
            <a:ext cx="1828800" cy="731520"/>
          </a:xfrm>
          <a:prstGeom prst="rect">
            <a:avLst/>
          </a:prstGeom>
          <a:noFill/>
        </p:spPr>
        <p:txBody>
          <a:bodyPr wrap="square">
            <a:spAutoFit/>
          </a:bodyPr>
          <a:lstStyle/>
          <a:p>
            <a:pPr algn="ctr">
              <a:defRPr sz="900">
                <a:solidFill>
                  <a:srgbClr val="605E5C"/>
                </a:solidFill>
              </a:defRPr>
            </a:pPr>
            <a:r>
              <a:t>Value summary &amp; Q&amp;A</a:t>
            </a:r>
          </a:p>
        </p:txBody>
      </p:sp>
      <p:sp>
        <p:nvSpPr>
          <p:cNvPr id="37" name="TextBox 36"/>
          <p:cNvSpPr txBox="1"/>
          <p:nvPr/>
        </p:nvSpPr>
        <p:spPr>
          <a:xfrm>
            <a:off x="12130887" y="4297680"/>
            <a:ext cx="731520" cy="274320"/>
          </a:xfrm>
          <a:prstGeom prst="rect">
            <a:avLst/>
          </a:prstGeom>
          <a:noFill/>
        </p:spPr>
        <p:txBody>
          <a:bodyPr wrap="none">
            <a:spAutoFit/>
          </a:bodyPr>
          <a:lstStyle/>
          <a:p>
            <a:pPr algn="ctr">
              <a:defRPr sz="900" b="1">
                <a:solidFill>
                  <a:srgbClr val="FF8C00"/>
                </a:solidFill>
              </a:defRPr>
            </a:pPr>
            <a:r>
              <a:t>5 min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Demo Flow: Part 1 (15 min)</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1. Opening &amp; Context (2 min) - Three challenges overview</a:t>
            </a:r>
          </a:p>
          <a:p>
            <a:pPr>
              <a:spcAft>
                <a:spcPts val="1200"/>
              </a:spcAft>
              <a:defRPr sz="1800">
                <a:solidFill>
                  <a:srgbClr val="323130"/>
                </a:solidFill>
                <a:latin typeface="Segoe UI"/>
              </a:defRPr>
            </a:pPr>
            <a:r>
              <a:t>• 2. Architecture Overview (3 min) - Three-tier structure explained</a:t>
            </a:r>
          </a:p>
          <a:p>
            <a:pPr>
              <a:spcAft>
                <a:spcPts val="1200"/>
              </a:spcAft>
              <a:defRPr sz="1800">
                <a:solidFill>
                  <a:srgbClr val="323130"/>
                </a:solidFill>
                <a:latin typeface="Segoe UI"/>
              </a:defRPr>
            </a:pPr>
            <a:r>
              <a:t>• 3. Drains Deep Dive (8 min) - Run quarterly analysis live</a:t>
            </a:r>
          </a:p>
          <a:p>
            <a:pPr>
              <a:spcAft>
                <a:spcPts val="1200"/>
              </a:spcAft>
              <a:defRPr sz="1800">
                <a:solidFill>
                  <a:srgbClr val="323130"/>
                </a:solidFill>
                <a:latin typeface="Segoe UI"/>
              </a:defRPr>
            </a:pPr>
            <a:r>
              <a:t>•    • Show output structure</a:t>
            </a:r>
          </a:p>
          <a:p>
            <a:pPr>
              <a:spcAft>
                <a:spcPts val="1200"/>
              </a:spcAft>
              <a:defRPr sz="1800">
                <a:solidFill>
                  <a:srgbClr val="323130"/>
                </a:solidFill>
                <a:latin typeface="Segoe UI"/>
              </a:defRPr>
            </a:pPr>
            <a:r>
              <a:t>•    • Demonstrate parent company coordination check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Demo Flow: Part 2 (14 min)</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4. Wilkins - Digital Focus (5 min) - Smart valve comparison</a:t>
            </a:r>
          </a:p>
          <a:p>
            <a:pPr>
              <a:spcAft>
                <a:spcPts val="1200"/>
              </a:spcAft>
              <a:defRPr sz="1800">
                <a:solidFill>
                  <a:srgbClr val="323130"/>
                </a:solidFill>
                <a:latin typeface="Segoe UI"/>
              </a:defRPr>
            </a:pPr>
            <a:r>
              <a:t>• 5. Drinking Water (4 min) - NSF certification verification</a:t>
            </a:r>
          </a:p>
          <a:p>
            <a:pPr>
              <a:spcAft>
                <a:spcPts val="1200"/>
              </a:spcAft>
              <a:defRPr sz="1800">
                <a:solidFill>
                  <a:srgbClr val="323130"/>
                </a:solidFill>
                <a:latin typeface="Segoe UI"/>
              </a:defRPr>
            </a:pPr>
            <a:r>
              <a:t>• 6. Sinks - Healthcare (4 min) - Morris Group detection demo</a:t>
            </a:r>
          </a:p>
          <a:p>
            <a:pPr>
              <a:spcAft>
                <a:spcPts val="1200"/>
              </a:spcAft>
              <a:defRPr sz="1800">
                <a:solidFill>
                  <a:srgbClr val="323130"/>
                </a:solidFill>
                <a:latin typeface="Segoe UI"/>
              </a:defRPr>
            </a:pPr>
            <a:r>
              <a:t>• 7. Commercial Brass (5 min) - Platform strategy tracking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Demo Flow: Part 3 (10 min)</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8. Cross-BU Synthesis (5 min)</a:t>
            </a:r>
          </a:p>
          <a:p>
            <a:pPr>
              <a:spcAft>
                <a:spcPts val="1200"/>
              </a:spcAft>
              <a:defRPr sz="1800">
                <a:solidFill>
                  <a:srgbClr val="323130"/>
                </a:solidFill>
                <a:latin typeface="Segoe UI"/>
              </a:defRPr>
            </a:pPr>
            <a:r>
              <a:t>•    • Enterprise aggregation</a:t>
            </a:r>
          </a:p>
          <a:p>
            <a:pPr>
              <a:spcAft>
                <a:spcPts val="1200"/>
              </a:spcAft>
              <a:defRPr sz="1800">
                <a:solidFill>
                  <a:srgbClr val="323130"/>
                </a:solidFill>
                <a:latin typeface="Segoe UI"/>
              </a:defRPr>
            </a:pPr>
            <a:r>
              <a:t>•    • Cross-BU pattern detection</a:t>
            </a:r>
          </a:p>
          <a:p>
            <a:pPr>
              <a:spcAft>
                <a:spcPts val="1200"/>
              </a:spcAft>
              <a:defRPr sz="1800">
                <a:solidFill>
                  <a:srgbClr val="323130"/>
                </a:solidFill>
                <a:latin typeface="Segoe UI"/>
              </a:defRPr>
            </a:pPr>
            <a:r>
              <a:t>•    • Executive briefing generation</a:t>
            </a:r>
          </a:p>
          <a:p>
            <a:pPr>
              <a:spcAft>
                <a:spcPts val="1200"/>
              </a:spcAft>
              <a:defRPr sz="1800">
                <a:solidFill>
                  <a:srgbClr val="323130"/>
                </a:solidFill>
                <a:latin typeface="Segoe UI"/>
              </a:defRPr>
            </a:pPr>
            <a:r>
              <a:t>• 9. Orchestrator &amp; Closing (5 min)</a:t>
            </a:r>
          </a:p>
          <a:p>
            <a:pPr>
              <a:spcAft>
                <a:spcPts val="1200"/>
              </a:spcAft>
              <a:defRPr sz="1800">
                <a:solidFill>
                  <a:srgbClr val="323130"/>
                </a:solidFill>
                <a:latin typeface="Segoe UI"/>
              </a:defRPr>
            </a:pPr>
            <a:r>
              <a:t>•    • System health check</a:t>
            </a:r>
          </a:p>
          <a:p>
            <a:pPr>
              <a:spcAft>
                <a:spcPts val="1200"/>
              </a:spcAft>
              <a:defRPr sz="1800">
                <a:solidFill>
                  <a:srgbClr val="323130"/>
                </a:solidFill>
                <a:latin typeface="Segoe UI"/>
              </a:defRPr>
            </a:pPr>
            <a:r>
              <a:t>•    • Value summary &amp; Q&amp;A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914400"/>
          </a:xfrm>
          <a:prstGeom prst="rect">
            <a:avLst/>
          </a:prstGeom>
          <a:noFill/>
        </p:spPr>
        <p:txBody>
          <a:bodyPr wrap="square">
            <a:spAutoFit/>
          </a:bodyPr>
          <a:lstStyle/>
          <a:p>
            <a:pPr>
              <a:defRPr sz="3600">
                <a:solidFill>
                  <a:srgbClr val="323130"/>
                </a:solidFill>
                <a:latin typeface="Segoe UI Semibold"/>
              </a:defRPr>
            </a:pPr>
            <a:r>
              <a:t>Business Value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The Transformation</a:t>
            </a:r>
          </a:p>
        </p:txBody>
      </p:sp>
      <p:sp>
        <p:nvSpPr>
          <p:cNvPr id="3" name="Rounded Rectangle 2"/>
          <p:cNvSpPr/>
          <p:nvPr/>
        </p:nvSpPr>
        <p:spPr>
          <a:xfrm>
            <a:off x="609447" y="1188720"/>
            <a:ext cx="3474720" cy="2560320"/>
          </a:xfrm>
          <a:prstGeom prst="roundRect">
            <a:avLst/>
          </a:prstGeom>
          <a:solidFill>
            <a:srgbClr val="FFFFFF"/>
          </a:solidFill>
          <a:ln w="12700">
            <a:solidFill>
              <a:srgbClr val="A19F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447" y="1325880"/>
            <a:ext cx="3474720" cy="457200"/>
          </a:xfrm>
          <a:prstGeom prst="rect">
            <a:avLst/>
          </a:prstGeom>
          <a:noFill/>
        </p:spPr>
        <p:txBody>
          <a:bodyPr wrap="none">
            <a:spAutoFit/>
          </a:bodyPr>
          <a:lstStyle/>
          <a:p>
            <a:pPr algn="ctr">
              <a:defRPr sz="3200"/>
            </a:pPr>
            <a:r>
              <a:t>📅</a:t>
            </a:r>
          </a:p>
        </p:txBody>
      </p:sp>
      <p:sp>
        <p:nvSpPr>
          <p:cNvPr id="5" name="TextBox 4"/>
          <p:cNvSpPr txBox="1"/>
          <p:nvPr/>
        </p:nvSpPr>
        <p:spPr>
          <a:xfrm>
            <a:off x="700887" y="1783080"/>
            <a:ext cx="3291839" cy="365760"/>
          </a:xfrm>
          <a:prstGeom prst="rect">
            <a:avLst/>
          </a:prstGeom>
          <a:noFill/>
        </p:spPr>
        <p:txBody>
          <a:bodyPr wrap="square">
            <a:spAutoFit/>
          </a:bodyPr>
          <a:lstStyle/>
          <a:p>
            <a:pPr algn="ctr">
              <a:defRPr sz="1400" b="1">
                <a:solidFill>
                  <a:srgbClr val="0078D4"/>
                </a:solidFill>
              </a:defRPr>
            </a:pPr>
            <a:r>
              <a:t>Time to Insight</a:t>
            </a:r>
          </a:p>
        </p:txBody>
      </p:sp>
      <p:sp>
        <p:nvSpPr>
          <p:cNvPr id="6" name="TextBox 5"/>
          <p:cNvSpPr txBox="1"/>
          <p:nvPr/>
        </p:nvSpPr>
        <p:spPr>
          <a:xfrm>
            <a:off x="700887" y="2148840"/>
            <a:ext cx="3291839" cy="548640"/>
          </a:xfrm>
          <a:prstGeom prst="rect">
            <a:avLst/>
          </a:prstGeom>
          <a:noFill/>
        </p:spPr>
        <p:txBody>
          <a:bodyPr wrap="square">
            <a:spAutoFit/>
          </a:bodyPr>
          <a:lstStyle/>
          <a:p>
            <a:pPr algn="ctr">
              <a:defRPr sz="1000">
                <a:solidFill>
                  <a:srgbClr val="605E5C"/>
                </a:solidFill>
              </a:defRPr>
            </a:pPr>
            <a:r>
              <a:t>Quarterly competitive analysis</a:t>
            </a:r>
          </a:p>
        </p:txBody>
      </p:sp>
      <p:sp>
        <p:nvSpPr>
          <p:cNvPr id="7" name="TextBox 6"/>
          <p:cNvSpPr txBox="1"/>
          <p:nvPr/>
        </p:nvSpPr>
        <p:spPr>
          <a:xfrm>
            <a:off x="746607" y="3200399"/>
            <a:ext cx="1097280" cy="320040"/>
          </a:xfrm>
          <a:prstGeom prst="rect">
            <a:avLst/>
          </a:prstGeom>
          <a:noFill/>
        </p:spPr>
        <p:txBody>
          <a:bodyPr wrap="none">
            <a:spAutoFit/>
          </a:bodyPr>
          <a:lstStyle/>
          <a:p>
            <a:pPr algn="ctr">
              <a:defRPr sz="1100">
                <a:solidFill>
                  <a:srgbClr val="D13438"/>
                </a:solidFill>
              </a:defRPr>
            </a:pPr>
            <a:r>
              <a:t>2-3 Weeks</a:t>
            </a:r>
          </a:p>
        </p:txBody>
      </p:sp>
      <p:sp>
        <p:nvSpPr>
          <p:cNvPr id="8" name="TextBox 7"/>
          <p:cNvSpPr txBox="1"/>
          <p:nvPr/>
        </p:nvSpPr>
        <p:spPr>
          <a:xfrm>
            <a:off x="1889607" y="3200399"/>
            <a:ext cx="548640" cy="320040"/>
          </a:xfrm>
          <a:prstGeom prst="rect">
            <a:avLst/>
          </a:prstGeom>
          <a:noFill/>
        </p:spPr>
        <p:txBody>
          <a:bodyPr wrap="none">
            <a:spAutoFit/>
          </a:bodyPr>
          <a:lstStyle/>
          <a:p>
            <a:pPr algn="ctr">
              <a:defRPr sz="1400" b="1">
                <a:solidFill>
                  <a:srgbClr val="107C10"/>
                </a:solidFill>
              </a:defRPr>
            </a:pPr>
            <a:r>
              <a:t>→</a:t>
            </a:r>
          </a:p>
        </p:txBody>
      </p:sp>
      <p:sp>
        <p:nvSpPr>
          <p:cNvPr id="9" name="TextBox 8"/>
          <p:cNvSpPr txBox="1"/>
          <p:nvPr/>
        </p:nvSpPr>
        <p:spPr>
          <a:xfrm>
            <a:off x="2438247" y="3200399"/>
            <a:ext cx="1371600" cy="320040"/>
          </a:xfrm>
          <a:prstGeom prst="rect">
            <a:avLst/>
          </a:prstGeom>
          <a:noFill/>
        </p:spPr>
        <p:txBody>
          <a:bodyPr wrap="none">
            <a:spAutoFit/>
          </a:bodyPr>
          <a:lstStyle/>
          <a:p>
            <a:pPr algn="ctr">
              <a:defRPr sz="1100" b="1">
                <a:solidFill>
                  <a:srgbClr val="107C10"/>
                </a:solidFill>
              </a:defRPr>
            </a:pPr>
            <a:r>
              <a:t>Hours</a:t>
            </a:r>
          </a:p>
        </p:txBody>
      </p:sp>
      <p:sp>
        <p:nvSpPr>
          <p:cNvPr id="10" name="Rounded Rectangle 9"/>
          <p:cNvSpPr/>
          <p:nvPr/>
        </p:nvSpPr>
        <p:spPr>
          <a:xfrm>
            <a:off x="4358487" y="1188720"/>
            <a:ext cx="3474720" cy="2560320"/>
          </a:xfrm>
          <a:prstGeom prst="roundRect">
            <a:avLst/>
          </a:prstGeom>
          <a:solidFill>
            <a:srgbClr val="FFFFFF"/>
          </a:solidFill>
          <a:ln w="12700">
            <a:solidFill>
              <a:srgbClr val="A19F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58487" y="1325880"/>
            <a:ext cx="3474720" cy="457200"/>
          </a:xfrm>
          <a:prstGeom prst="rect">
            <a:avLst/>
          </a:prstGeom>
          <a:noFill/>
        </p:spPr>
        <p:txBody>
          <a:bodyPr wrap="none">
            <a:spAutoFit/>
          </a:bodyPr>
          <a:lstStyle/>
          <a:p>
            <a:pPr algn="ctr">
              <a:defRPr sz="3200"/>
            </a:pPr>
            <a:r>
              <a:t>🎯</a:t>
            </a:r>
          </a:p>
        </p:txBody>
      </p:sp>
      <p:sp>
        <p:nvSpPr>
          <p:cNvPr id="12" name="TextBox 11"/>
          <p:cNvSpPr txBox="1"/>
          <p:nvPr/>
        </p:nvSpPr>
        <p:spPr>
          <a:xfrm>
            <a:off x="4449927" y="1783080"/>
            <a:ext cx="3291839" cy="365760"/>
          </a:xfrm>
          <a:prstGeom prst="rect">
            <a:avLst/>
          </a:prstGeom>
          <a:noFill/>
        </p:spPr>
        <p:txBody>
          <a:bodyPr wrap="square">
            <a:spAutoFit/>
          </a:bodyPr>
          <a:lstStyle/>
          <a:p>
            <a:pPr algn="ctr">
              <a:defRPr sz="1400" b="1">
                <a:solidFill>
                  <a:srgbClr val="0078D4"/>
                </a:solidFill>
              </a:defRPr>
            </a:pPr>
            <a:r>
              <a:t>Quality &amp; Coverage</a:t>
            </a:r>
          </a:p>
        </p:txBody>
      </p:sp>
      <p:sp>
        <p:nvSpPr>
          <p:cNvPr id="13" name="TextBox 12"/>
          <p:cNvSpPr txBox="1"/>
          <p:nvPr/>
        </p:nvSpPr>
        <p:spPr>
          <a:xfrm>
            <a:off x="4449927" y="2148840"/>
            <a:ext cx="3291839" cy="548640"/>
          </a:xfrm>
          <a:prstGeom prst="rect">
            <a:avLst/>
          </a:prstGeom>
          <a:noFill/>
        </p:spPr>
        <p:txBody>
          <a:bodyPr wrap="square">
            <a:spAutoFit/>
          </a:bodyPr>
          <a:lstStyle/>
          <a:p>
            <a:pPr algn="ctr">
              <a:defRPr sz="1000">
                <a:solidFill>
                  <a:srgbClr val="605E5C"/>
                </a:solidFill>
              </a:defRPr>
            </a:pPr>
            <a:r>
              <a:t>Consistent framework across all BUs</a:t>
            </a:r>
          </a:p>
        </p:txBody>
      </p:sp>
      <p:sp>
        <p:nvSpPr>
          <p:cNvPr id="14" name="TextBox 13"/>
          <p:cNvSpPr txBox="1"/>
          <p:nvPr/>
        </p:nvSpPr>
        <p:spPr>
          <a:xfrm>
            <a:off x="4495647" y="3200399"/>
            <a:ext cx="1097280" cy="320040"/>
          </a:xfrm>
          <a:prstGeom prst="rect">
            <a:avLst/>
          </a:prstGeom>
          <a:noFill/>
        </p:spPr>
        <p:txBody>
          <a:bodyPr wrap="none">
            <a:spAutoFit/>
          </a:bodyPr>
          <a:lstStyle/>
          <a:p>
            <a:pPr algn="ctr">
              <a:defRPr sz="1100">
                <a:solidFill>
                  <a:srgbClr val="D13438"/>
                </a:solidFill>
              </a:defRPr>
            </a:pPr>
            <a:r>
              <a:t>Inconsistent</a:t>
            </a:r>
          </a:p>
        </p:txBody>
      </p:sp>
      <p:sp>
        <p:nvSpPr>
          <p:cNvPr id="15" name="TextBox 14"/>
          <p:cNvSpPr txBox="1"/>
          <p:nvPr/>
        </p:nvSpPr>
        <p:spPr>
          <a:xfrm>
            <a:off x="5638647" y="3200399"/>
            <a:ext cx="548640" cy="320040"/>
          </a:xfrm>
          <a:prstGeom prst="rect">
            <a:avLst/>
          </a:prstGeom>
          <a:noFill/>
        </p:spPr>
        <p:txBody>
          <a:bodyPr wrap="none">
            <a:spAutoFit/>
          </a:bodyPr>
          <a:lstStyle/>
          <a:p>
            <a:pPr algn="ctr">
              <a:defRPr sz="1400" b="1">
                <a:solidFill>
                  <a:srgbClr val="107C10"/>
                </a:solidFill>
              </a:defRPr>
            </a:pPr>
            <a:r>
              <a:t>→</a:t>
            </a:r>
          </a:p>
        </p:txBody>
      </p:sp>
      <p:sp>
        <p:nvSpPr>
          <p:cNvPr id="16" name="TextBox 15"/>
          <p:cNvSpPr txBox="1"/>
          <p:nvPr/>
        </p:nvSpPr>
        <p:spPr>
          <a:xfrm>
            <a:off x="6187287" y="3200399"/>
            <a:ext cx="1371600" cy="320040"/>
          </a:xfrm>
          <a:prstGeom prst="rect">
            <a:avLst/>
          </a:prstGeom>
          <a:noFill/>
        </p:spPr>
        <p:txBody>
          <a:bodyPr wrap="none">
            <a:spAutoFit/>
          </a:bodyPr>
          <a:lstStyle/>
          <a:p>
            <a:pPr algn="ctr">
              <a:defRPr sz="1100" b="1">
                <a:solidFill>
                  <a:srgbClr val="107C10"/>
                </a:solidFill>
              </a:defRPr>
            </a:pPr>
            <a:r>
              <a:t>Enterprise-wide</a:t>
            </a:r>
          </a:p>
        </p:txBody>
      </p:sp>
      <p:sp>
        <p:nvSpPr>
          <p:cNvPr id="17" name="Rounded Rectangle 16"/>
          <p:cNvSpPr/>
          <p:nvPr/>
        </p:nvSpPr>
        <p:spPr>
          <a:xfrm>
            <a:off x="8107527" y="1188720"/>
            <a:ext cx="3474720" cy="2560320"/>
          </a:xfrm>
          <a:prstGeom prst="roundRect">
            <a:avLst/>
          </a:prstGeom>
          <a:solidFill>
            <a:srgbClr val="FFFFFF"/>
          </a:solidFill>
          <a:ln w="12700">
            <a:solidFill>
              <a:srgbClr val="A19F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7527" y="1325880"/>
            <a:ext cx="3474720" cy="457200"/>
          </a:xfrm>
          <a:prstGeom prst="rect">
            <a:avLst/>
          </a:prstGeom>
          <a:noFill/>
        </p:spPr>
        <p:txBody>
          <a:bodyPr wrap="none">
            <a:spAutoFit/>
          </a:bodyPr>
          <a:lstStyle/>
          <a:p>
            <a:pPr algn="ctr">
              <a:defRPr sz="3200"/>
            </a:pPr>
            <a:r>
              <a:t>🔍</a:t>
            </a:r>
          </a:p>
        </p:txBody>
      </p:sp>
      <p:sp>
        <p:nvSpPr>
          <p:cNvPr id="19" name="TextBox 18"/>
          <p:cNvSpPr txBox="1"/>
          <p:nvPr/>
        </p:nvSpPr>
        <p:spPr>
          <a:xfrm>
            <a:off x="8198967" y="1783080"/>
            <a:ext cx="3291839" cy="365760"/>
          </a:xfrm>
          <a:prstGeom prst="rect">
            <a:avLst/>
          </a:prstGeom>
          <a:noFill/>
        </p:spPr>
        <p:txBody>
          <a:bodyPr wrap="square">
            <a:spAutoFit/>
          </a:bodyPr>
          <a:lstStyle/>
          <a:p>
            <a:pPr algn="ctr">
              <a:defRPr sz="1400" b="1">
                <a:solidFill>
                  <a:srgbClr val="0078D4"/>
                </a:solidFill>
              </a:defRPr>
            </a:pPr>
            <a:r>
              <a:t>Parent Co. Tracking</a:t>
            </a:r>
          </a:p>
        </p:txBody>
      </p:sp>
      <p:sp>
        <p:nvSpPr>
          <p:cNvPr id="20" name="TextBox 19"/>
          <p:cNvSpPr txBox="1"/>
          <p:nvPr/>
        </p:nvSpPr>
        <p:spPr>
          <a:xfrm>
            <a:off x="8198967" y="2148840"/>
            <a:ext cx="3291839" cy="548640"/>
          </a:xfrm>
          <a:prstGeom prst="rect">
            <a:avLst/>
          </a:prstGeom>
          <a:noFill/>
        </p:spPr>
        <p:txBody>
          <a:bodyPr wrap="square">
            <a:spAutoFit/>
          </a:bodyPr>
          <a:lstStyle/>
          <a:p>
            <a:pPr algn="ctr">
              <a:defRPr sz="1000">
                <a:solidFill>
                  <a:srgbClr val="605E5C"/>
                </a:solidFill>
              </a:defRPr>
            </a:pPr>
            <a:r>
              <a:t>Cross-portfolio coordination detection</a:t>
            </a:r>
          </a:p>
        </p:txBody>
      </p:sp>
      <p:sp>
        <p:nvSpPr>
          <p:cNvPr id="21" name="TextBox 20"/>
          <p:cNvSpPr txBox="1"/>
          <p:nvPr/>
        </p:nvSpPr>
        <p:spPr>
          <a:xfrm>
            <a:off x="8244687" y="3200399"/>
            <a:ext cx="1097280" cy="320040"/>
          </a:xfrm>
          <a:prstGeom prst="rect">
            <a:avLst/>
          </a:prstGeom>
          <a:noFill/>
        </p:spPr>
        <p:txBody>
          <a:bodyPr wrap="none">
            <a:spAutoFit/>
          </a:bodyPr>
          <a:lstStyle/>
          <a:p>
            <a:pPr algn="ctr">
              <a:defRPr sz="1100">
                <a:solidFill>
                  <a:srgbClr val="D13438"/>
                </a:solidFill>
              </a:defRPr>
            </a:pPr>
            <a:r>
              <a:t>Manual</a:t>
            </a:r>
          </a:p>
        </p:txBody>
      </p:sp>
      <p:sp>
        <p:nvSpPr>
          <p:cNvPr id="22" name="TextBox 21"/>
          <p:cNvSpPr txBox="1"/>
          <p:nvPr/>
        </p:nvSpPr>
        <p:spPr>
          <a:xfrm>
            <a:off x="9387687" y="3200399"/>
            <a:ext cx="548640" cy="320040"/>
          </a:xfrm>
          <a:prstGeom prst="rect">
            <a:avLst/>
          </a:prstGeom>
          <a:noFill/>
        </p:spPr>
        <p:txBody>
          <a:bodyPr wrap="none">
            <a:spAutoFit/>
          </a:bodyPr>
          <a:lstStyle/>
          <a:p>
            <a:pPr algn="ctr">
              <a:defRPr sz="1400" b="1">
                <a:solidFill>
                  <a:srgbClr val="107C10"/>
                </a:solidFill>
              </a:defRPr>
            </a:pPr>
            <a:r>
              <a:t>→</a:t>
            </a:r>
          </a:p>
        </p:txBody>
      </p:sp>
      <p:sp>
        <p:nvSpPr>
          <p:cNvPr id="23" name="TextBox 22"/>
          <p:cNvSpPr txBox="1"/>
          <p:nvPr/>
        </p:nvSpPr>
        <p:spPr>
          <a:xfrm>
            <a:off x="9936327" y="3200399"/>
            <a:ext cx="1371600" cy="320040"/>
          </a:xfrm>
          <a:prstGeom prst="rect">
            <a:avLst/>
          </a:prstGeom>
          <a:noFill/>
        </p:spPr>
        <p:txBody>
          <a:bodyPr wrap="none">
            <a:spAutoFit/>
          </a:bodyPr>
          <a:lstStyle/>
          <a:p>
            <a:pPr algn="ctr">
              <a:defRPr sz="1100" b="1">
                <a:solidFill>
                  <a:srgbClr val="107C10"/>
                </a:solidFill>
              </a:defRPr>
            </a:pPr>
            <a:r>
              <a:t>Automatic</a:t>
            </a:r>
          </a:p>
        </p:txBody>
      </p:sp>
      <p:sp>
        <p:nvSpPr>
          <p:cNvPr id="24" name="Rounded Rectangle 23"/>
          <p:cNvSpPr/>
          <p:nvPr/>
        </p:nvSpPr>
        <p:spPr>
          <a:xfrm>
            <a:off x="609447" y="4023359"/>
            <a:ext cx="3474720" cy="2560320"/>
          </a:xfrm>
          <a:prstGeom prst="roundRect">
            <a:avLst/>
          </a:prstGeom>
          <a:solidFill>
            <a:srgbClr val="FFFFFF"/>
          </a:solidFill>
          <a:ln w="12700">
            <a:solidFill>
              <a:srgbClr val="A19F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447" y="4160520"/>
            <a:ext cx="3474720" cy="457200"/>
          </a:xfrm>
          <a:prstGeom prst="rect">
            <a:avLst/>
          </a:prstGeom>
          <a:noFill/>
        </p:spPr>
        <p:txBody>
          <a:bodyPr wrap="none">
            <a:spAutoFit/>
          </a:bodyPr>
          <a:lstStyle/>
          <a:p>
            <a:pPr algn="ctr">
              <a:defRPr sz="3200"/>
            </a:pPr>
            <a:r>
              <a:t>📋</a:t>
            </a:r>
          </a:p>
        </p:txBody>
      </p:sp>
      <p:sp>
        <p:nvSpPr>
          <p:cNvPr id="26" name="TextBox 25"/>
          <p:cNvSpPr txBox="1"/>
          <p:nvPr/>
        </p:nvSpPr>
        <p:spPr>
          <a:xfrm>
            <a:off x="700887" y="4617720"/>
            <a:ext cx="3291839" cy="365760"/>
          </a:xfrm>
          <a:prstGeom prst="rect">
            <a:avLst/>
          </a:prstGeom>
          <a:noFill/>
        </p:spPr>
        <p:txBody>
          <a:bodyPr wrap="square">
            <a:spAutoFit/>
          </a:bodyPr>
          <a:lstStyle/>
          <a:p>
            <a:pPr algn="ctr">
              <a:defRPr sz="1400" b="1">
                <a:solidFill>
                  <a:srgbClr val="0078D4"/>
                </a:solidFill>
              </a:defRPr>
            </a:pPr>
            <a:r>
              <a:t>Source Attribution</a:t>
            </a:r>
          </a:p>
        </p:txBody>
      </p:sp>
      <p:sp>
        <p:nvSpPr>
          <p:cNvPr id="27" name="TextBox 26"/>
          <p:cNvSpPr txBox="1"/>
          <p:nvPr/>
        </p:nvSpPr>
        <p:spPr>
          <a:xfrm>
            <a:off x="700887" y="4983479"/>
            <a:ext cx="3291839" cy="548640"/>
          </a:xfrm>
          <a:prstGeom prst="rect">
            <a:avLst/>
          </a:prstGeom>
          <a:noFill/>
        </p:spPr>
        <p:txBody>
          <a:bodyPr wrap="square">
            <a:spAutoFit/>
          </a:bodyPr>
          <a:lstStyle/>
          <a:p>
            <a:pPr algn="ctr">
              <a:defRPr sz="1000">
                <a:solidFill>
                  <a:srgbClr val="605E5C"/>
                </a:solidFill>
              </a:defRPr>
            </a:pPr>
            <a:r>
              <a:t>Every intelligence item traced</a:t>
            </a:r>
          </a:p>
        </p:txBody>
      </p:sp>
      <p:sp>
        <p:nvSpPr>
          <p:cNvPr id="28" name="TextBox 27"/>
          <p:cNvSpPr txBox="1"/>
          <p:nvPr/>
        </p:nvSpPr>
        <p:spPr>
          <a:xfrm>
            <a:off x="746607" y="6035040"/>
            <a:ext cx="1097280" cy="320040"/>
          </a:xfrm>
          <a:prstGeom prst="rect">
            <a:avLst/>
          </a:prstGeom>
          <a:noFill/>
        </p:spPr>
        <p:txBody>
          <a:bodyPr wrap="none">
            <a:spAutoFit/>
          </a:bodyPr>
          <a:lstStyle/>
          <a:p>
            <a:pPr algn="ctr">
              <a:defRPr sz="1100">
                <a:solidFill>
                  <a:srgbClr val="D13438"/>
                </a:solidFill>
              </a:defRPr>
            </a:pPr>
            <a:r>
              <a:t>Scattered</a:t>
            </a:r>
          </a:p>
        </p:txBody>
      </p:sp>
      <p:sp>
        <p:nvSpPr>
          <p:cNvPr id="29" name="TextBox 28"/>
          <p:cNvSpPr txBox="1"/>
          <p:nvPr/>
        </p:nvSpPr>
        <p:spPr>
          <a:xfrm>
            <a:off x="1889607" y="6035040"/>
            <a:ext cx="548640" cy="320040"/>
          </a:xfrm>
          <a:prstGeom prst="rect">
            <a:avLst/>
          </a:prstGeom>
          <a:noFill/>
        </p:spPr>
        <p:txBody>
          <a:bodyPr wrap="none">
            <a:spAutoFit/>
          </a:bodyPr>
          <a:lstStyle/>
          <a:p>
            <a:pPr algn="ctr">
              <a:defRPr sz="1400" b="1">
                <a:solidFill>
                  <a:srgbClr val="107C10"/>
                </a:solidFill>
              </a:defRPr>
            </a:pPr>
            <a:r>
              <a:t>→</a:t>
            </a:r>
          </a:p>
        </p:txBody>
      </p:sp>
      <p:sp>
        <p:nvSpPr>
          <p:cNvPr id="30" name="TextBox 29"/>
          <p:cNvSpPr txBox="1"/>
          <p:nvPr/>
        </p:nvSpPr>
        <p:spPr>
          <a:xfrm>
            <a:off x="2438247" y="6035040"/>
            <a:ext cx="1371600" cy="320040"/>
          </a:xfrm>
          <a:prstGeom prst="rect">
            <a:avLst/>
          </a:prstGeom>
          <a:noFill/>
        </p:spPr>
        <p:txBody>
          <a:bodyPr wrap="none">
            <a:spAutoFit/>
          </a:bodyPr>
          <a:lstStyle/>
          <a:p>
            <a:pPr algn="ctr">
              <a:defRPr sz="1100" b="1">
                <a:solidFill>
                  <a:srgbClr val="107C10"/>
                </a:solidFill>
              </a:defRPr>
            </a:pPr>
            <a:r>
              <a:t>100% Sourced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Parent Companies We Track</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Watts Water Technologies - Largest multi-BU competitor (Drains, Wilkins, Drinking Water, Brass)</a:t>
            </a:r>
          </a:p>
          <a:p>
            <a:pPr>
              <a:spcAft>
                <a:spcPts val="1200"/>
              </a:spcAft>
              <a:defRPr sz="1800">
                <a:solidFill>
                  <a:srgbClr val="323130"/>
                </a:solidFill>
                <a:latin typeface="Segoe UI"/>
              </a:defRPr>
            </a:pPr>
            <a:r>
              <a:t>• Morris Group - Just Mfg + T&amp;S Brass bundled solutions</a:t>
            </a:r>
          </a:p>
          <a:p>
            <a:pPr>
              <a:spcAft>
                <a:spcPts val="1200"/>
              </a:spcAft>
              <a:defRPr sz="1800">
                <a:solidFill>
                  <a:srgbClr val="323130"/>
                </a:solidFill>
                <a:latin typeface="Segoe UI"/>
              </a:defRPr>
            </a:pPr>
            <a:r>
              <a:t>• Lixil - Global brand with American Standard</a:t>
            </a:r>
          </a:p>
          <a:p>
            <a:pPr>
              <a:spcAft>
                <a:spcPts val="1200"/>
              </a:spcAft>
              <a:defRPr sz="1800">
                <a:solidFill>
                  <a:srgbClr val="323130"/>
                </a:solidFill>
                <a:latin typeface="Segoe UI"/>
              </a:defRPr>
            </a:pPr>
            <a:r>
              <a:t>• Geberit - European premium positioning</a:t>
            </a:r>
          </a:p>
          <a:p>
            <a:pPr>
              <a:spcAft>
                <a:spcPts val="1200"/>
              </a:spcAft>
              <a:defRPr sz="1800">
                <a:solidFill>
                  <a:srgbClr val="323130"/>
                </a:solidFill>
                <a:latin typeface="Segoe UI"/>
              </a:defRPr>
            </a:pPr>
            <a:r>
              <a:t>• Aalberts - Caleffi acquisition play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914400"/>
          </a:xfrm>
          <a:prstGeom prst="rect">
            <a:avLst/>
          </a:prstGeom>
          <a:noFill/>
        </p:spPr>
        <p:txBody>
          <a:bodyPr wrap="square">
            <a:spAutoFit/>
          </a:bodyPr>
          <a:lstStyle/>
          <a:p>
            <a:pPr>
              <a:defRPr sz="3600">
                <a:solidFill>
                  <a:srgbClr val="323130"/>
                </a:solidFill>
                <a:latin typeface="Segoe UI Semibold"/>
              </a:defRPr>
            </a:pPr>
            <a:r>
              <a:t>Q&amp;A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Anticipated Questions</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How do we keep competitor lists current? → Simple config updates, no code changes</a:t>
            </a:r>
          </a:p>
          <a:p>
            <a:pPr>
              <a:spcAft>
                <a:spcPts val="1200"/>
              </a:spcAft>
              <a:defRPr sz="1800">
                <a:solidFill>
                  <a:srgbClr val="323130"/>
                </a:solidFill>
                <a:latin typeface="Segoe UI"/>
              </a:defRPr>
            </a:pPr>
            <a:r>
              <a:t>• Adding data sources? → API integration ready (trade pubs, internal DBs)</a:t>
            </a:r>
          </a:p>
          <a:p>
            <a:pPr>
              <a:spcAft>
                <a:spcPts val="1200"/>
              </a:spcAft>
              <a:defRPr sz="1800">
                <a:solidFill>
                  <a:srgbClr val="323130"/>
                </a:solidFill>
                <a:latin typeface="Segoe UI"/>
              </a:defRPr>
            </a:pPr>
            <a:r>
              <a:t>• Power BI integration? → Structured JSON output, CSV exports available</a:t>
            </a:r>
          </a:p>
          <a:p>
            <a:pPr>
              <a:spcAft>
                <a:spcPts val="1200"/>
              </a:spcAft>
              <a:defRPr sz="1800">
                <a:solidFill>
                  <a:srgbClr val="323130"/>
                </a:solidFill>
                <a:latin typeface="Segoe UI"/>
              </a:defRPr>
            </a:pPr>
            <a:r>
              <a:t>• Real-time vs quarterly? → System supports both modes</a:t>
            </a:r>
          </a:p>
          <a:p>
            <a:pPr>
              <a:spcAft>
                <a:spcPts val="1200"/>
              </a:spcAft>
              <a:defRPr sz="1800">
                <a:solidFill>
                  <a:srgbClr val="323130"/>
                </a:solidFill>
                <a:latin typeface="Segoe UI"/>
              </a:defRPr>
            </a:pPr>
            <a:r>
              <a:t>• Confidence levels? → Built-in High/Medium/Low calibration per source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11277295" cy="914400"/>
          </a:xfrm>
          <a:prstGeom prst="rect">
            <a:avLst/>
          </a:prstGeom>
          <a:noFill/>
        </p:spPr>
        <p:txBody>
          <a:bodyPr wrap="square">
            <a:spAutoFit/>
          </a:bodyPr>
          <a:lstStyle/>
          <a:p>
            <a:pPr>
              <a:defRPr sz="4400">
                <a:solidFill>
                  <a:srgbClr val="323130"/>
                </a:solidFill>
                <a:latin typeface="Segoe UI Semibold"/>
              </a:defRPr>
            </a:pPr>
            <a:r>
              <a:t>Thank You</a:t>
            </a:r>
          </a:p>
        </p:txBody>
      </p:sp>
      <p:sp>
        <p:nvSpPr>
          <p:cNvPr id="3" name="TextBox 2"/>
          <p:cNvSpPr txBox="1"/>
          <p:nvPr/>
        </p:nvSpPr>
        <p:spPr>
          <a:xfrm>
            <a:off x="457200" y="3200400"/>
            <a:ext cx="11277295" cy="548640"/>
          </a:xfrm>
          <a:prstGeom prst="rect">
            <a:avLst/>
          </a:prstGeom>
          <a:noFill/>
        </p:spPr>
        <p:txBody>
          <a:bodyPr wrap="square">
            <a:spAutoFit/>
          </a:bodyPr>
          <a:lstStyle/>
          <a:p>
            <a:pPr>
              <a:defRPr sz="2400">
                <a:solidFill>
                  <a:srgbClr val="605E5C"/>
                </a:solidFill>
                <a:latin typeface="Segoe UI"/>
              </a:defRPr>
            </a:pPr>
            <a:r>
              <a:t>Zurn Elkay CI System | 7 Agents | 5 Business Units | Built with RAPP Framework</a:t>
            </a:r>
          </a:p>
        </p:txBody>
      </p:sp>
    </p:spTree>
  </p:cSld>
  <p:clrMapOvr>
    <a:masterClrMapping/>
  </p:clrMapOvr>
</p:sld>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Presentation10.pptx" id="{875A3683-6918-46C9-94C7-014AB10B4CFE}" vid="{F69C1093-1B65-4A00-A322-3FA63AC039A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741d717-973a-4876-bbd8-8b1348132c55" xsi:nil="true"/>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3714CF6683E8041AFD1C5610185BCF7" ma:contentTypeVersion="10" ma:contentTypeDescription="Create a new document." ma:contentTypeScope="" ma:versionID="7104a475d326ed95f91e23864542b400">
  <xsd:schema xmlns:xsd="http://www.w3.org/2001/XMLSchema" xmlns:xs="http://www.w3.org/2001/XMLSchema" xmlns:p="http://schemas.microsoft.com/office/2006/metadata/properties" xmlns:ns1="http://schemas.microsoft.com/sharepoint/v3" xmlns:ns2="4724af67-6ca7-4004-8ba4-af13d9fc8dce" xmlns:ns3="7741d717-973a-4876-bbd8-8b1348132c55" targetNamespace="http://schemas.microsoft.com/office/2006/metadata/properties" ma:root="true" ma:fieldsID="a81e0fcb11375a0e94f931036aeffa0a" ns1:_="" ns2:_="" ns3:_="">
    <xsd:import namespace="http://schemas.microsoft.com/sharepoint/v3"/>
    <xsd:import namespace="4724af67-6ca7-4004-8ba4-af13d9fc8dce"/>
    <xsd:import namespace="7741d717-973a-4876-bbd8-8b1348132c5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SearchProperties" minOccurs="0"/>
                <xsd:element ref="ns1:_ip_UnifiedCompliancePolicyProperties" minOccurs="0"/>
                <xsd:element ref="ns1:_ip_UnifiedCompliancePolicyUIAc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24af67-6ca7-4004-8ba4-af13d9fc8dc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741d717-973a-4876-bbd8-8b1348132c5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1B1131-15CA-429C-B875-56F79CD6C674}">
  <ds:schemaRefs>
    <ds:schemaRef ds:uri="http://schemas.microsoft.com/office/2006/metadata/properties"/>
    <ds:schemaRef ds:uri="http://schemas.microsoft.com/office/infopath/2007/PartnerControls"/>
    <ds:schemaRef ds:uri="7741d717-973a-4876-bbd8-8b1348132c55"/>
    <ds:schemaRef ds:uri="http://schemas.microsoft.com/sharepoint/v3"/>
  </ds:schemaRefs>
</ds:datastoreItem>
</file>

<file path=customXml/itemProps2.xml><?xml version="1.0" encoding="utf-8"?>
<ds:datastoreItem xmlns:ds="http://schemas.openxmlformats.org/officeDocument/2006/customXml" ds:itemID="{80773F8E-CD3C-401D-81D0-68F54DCC798C}">
  <ds:schemaRefs>
    <ds:schemaRef ds:uri="http://schemas.microsoft.com/sharepoint/v3/contenttype/forms"/>
  </ds:schemaRefs>
</ds:datastoreItem>
</file>

<file path=customXml/itemProps3.xml><?xml version="1.0" encoding="utf-8"?>
<ds:datastoreItem xmlns:ds="http://schemas.openxmlformats.org/officeDocument/2006/customXml" ds:itemID="{44A994E7-2F13-4F97-84BE-E1795C55C0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724af67-6ca7-4004-8ba4-af13d9fc8dce"/>
    <ds:schemaRef ds:uri="7741d717-973a-4876-bbd8-8b1348132c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PowerpointTemplateBlue</Template>
  <TotalTime>0</TotalTime>
  <Words>4044</Words>
  <Application>Microsoft Office PowerPoint</Application>
  <PresentationFormat>Widescreen</PresentationFormat>
  <Paragraphs>884</Paragraphs>
  <Slides>95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95</vt:i4>
      </vt:variant>
    </vt:vector>
  </HeadingPairs>
  <TitlesOfParts>
    <vt:vector size="103" baseType="lpstr">
      <vt:lpstr>.Hiragino Kaku Gothic Interface W3</vt:lpstr>
      <vt:lpstr>Arial</vt:lpstr>
      <vt:lpstr>Calibri</vt:lpstr>
      <vt:lpstr>Consolas</vt:lpstr>
      <vt:lpstr>Segoe UI</vt:lpstr>
      <vt:lpstr>Segoe UI Semibold</vt:lpstr>
      <vt:lpstr>Wingdings</vt:lpstr>
      <vt:lpstr>White Template</vt:lpstr>
      <vt:lpstr>Welcome to the Microsoft presentation toolkit</vt:lpstr>
      <vt:lpstr>What’s inside</vt:lpstr>
      <vt:lpstr>Tips and tricks</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Section divider</vt:lpstr>
      <vt:lpstr>Section divider</vt:lpstr>
      <vt:lpstr>Title and/or description</vt:lpstr>
      <vt:lpstr>Section header</vt:lpstr>
      <vt:lpstr>Section header</vt:lpstr>
      <vt:lpstr>Section header</vt:lpstr>
      <vt:lpstr>Section header</vt:lpstr>
      <vt:lpstr>Section header</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Agenda</vt:lpstr>
      <vt:lpstr>Agenda</vt:lpstr>
      <vt:lpstr>Agenda</vt:lpstr>
      <vt:lpstr>Some agendas need more details to set the tone of the conversation</vt:lpstr>
      <vt:lpstr>“Insert quote text here. This layout accommodates longer quotes very well.”</vt:lpstr>
      <vt:lpstr>“Add quote text here”</vt:lpstr>
      <vt:lpstr>“Add quote text here”</vt:lpstr>
      <vt:lpstr>Project name</vt:lpstr>
      <vt:lpstr>Twelve-step timeline</vt:lpstr>
      <vt:lpstr>Twelve-month timeline</vt:lpstr>
      <vt:lpstr>Twelve-week timeline</vt:lpstr>
      <vt:lpstr>Twelve-week timeline</vt:lpstr>
      <vt:lpstr>Custom timeline</vt:lpstr>
      <vt:lpstr>Custom timeline</vt:lpstr>
      <vt:lpstr>Custom timeline</vt:lpstr>
      <vt:lpstr>Custom timeline</vt:lpstr>
      <vt:lpstr>Hierarchy</vt:lpstr>
      <vt:lpstr>3 step process slide</vt:lpstr>
      <vt:lpstr>6 step process slide</vt:lpstr>
      <vt:lpstr>Bar chart</vt:lpstr>
      <vt:lpstr>Chart with call out details</vt:lpstr>
      <vt:lpstr>Chart title</vt:lpstr>
      <vt:lpstr>Venn diagram</vt:lpstr>
      <vt:lpstr>Slide title</vt:lpstr>
      <vt:lpstr>Slide title</vt:lpstr>
      <vt:lpstr>Slide title</vt:lpstr>
      <vt:lpstr>Table title</vt:lpstr>
      <vt:lpstr>Table title</vt:lpstr>
      <vt:lpstr>Milestone slide</vt:lpstr>
      <vt:lpstr>Hello</vt:lpstr>
      <vt:lpstr>The Team</vt:lpstr>
      <vt:lpstr>Profile Slide</vt:lpstr>
      <vt:lpstr>Get in touch</vt:lpstr>
      <vt:lpstr>Resources</vt:lpstr>
      <vt:lpstr>Slide title</vt:lpstr>
      <vt:lpstr>Slide title</vt:lpstr>
      <vt:lpstr>Slide header</vt:lpstr>
      <vt:lpstr>Slide header</vt:lpstr>
      <vt:lpstr>Slide header</vt:lpstr>
      <vt:lpstr>Slide header</vt:lpstr>
      <vt:lpstr>Header</vt:lpstr>
      <vt:lpstr>Header</vt:lpstr>
      <vt:lpstr>Header</vt:lpstr>
      <vt:lpstr>Header</vt:lpstr>
      <vt:lpstr>Header</vt:lpstr>
      <vt:lpstr>Header</vt:lpstr>
      <vt:lpstr>Thank you</vt:lpstr>
      <vt:lpstr>Thank you</vt:lpstr>
      <vt:lpstr>Thank you</vt:lpstr>
      <vt:lpstr>Appendix</vt:lpstr>
      <vt:lpstr>Icons  Icons should be primarily used as a visual aid, as a way to break up large amounts of text and content, or as a visual cue of the content that follows. Get the full set of icons for presentations</vt:lpstr>
      <vt:lpstr>Get the full set of icons for presentations</vt:lpstr>
      <vt:lpstr>Presentation resources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Bill Whalen</dc:creator>
  <cp:keywords/>
  <dc:description/>
  <cp:lastModifiedBy>Bill Whalen</cp:lastModifiedBy>
  <cp:revision>1</cp:revision>
  <dcterms:created xsi:type="dcterms:W3CDTF">2026-01-26T18:47:15Z</dcterms:created>
  <dcterms:modified xsi:type="dcterms:W3CDTF">2026-01-26T18:47:47Z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0x01010013714CF6683E8041AFD1C5610185BCF7</vt:lpwstr>
  </property>
</Properties>
</file>